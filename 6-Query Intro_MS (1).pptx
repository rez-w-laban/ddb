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351" r:id="rId6"/>
    <p:sldId id="264" r:id="rId7"/>
    <p:sldId id="267" r:id="rId8"/>
    <p:sldId id="268" r:id="rId9"/>
    <p:sldId id="269" r:id="rId10"/>
    <p:sldId id="270" r:id="rId11"/>
    <p:sldId id="271" r:id="rId12"/>
    <p:sldId id="272" r:id="rId13"/>
  </p:sldIdLst>
  <p:sldSz cx="13004800" cy="9753600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1pPr>
    <a:lvl2pPr marL="4572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2pPr>
    <a:lvl3pPr marL="9144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3pPr>
    <a:lvl4pPr marL="13716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4pPr>
    <a:lvl5pPr marL="1828800" algn="ctr" rtl="0" fontAlgn="base">
      <a:spcBef>
        <a:spcPct val="0"/>
      </a:spcBef>
      <a:spcAft>
        <a:spcPct val="0"/>
      </a:spcAft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5pPr>
    <a:lvl6pPr marL="22860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6pPr>
    <a:lvl7pPr marL="27432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7pPr>
    <a:lvl8pPr marL="32004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8pPr>
    <a:lvl9pPr marL="3657600" algn="l" defTabSz="457200" rtl="0" eaLnBrk="1" latinLnBrk="0" hangingPunct="1">
      <a:defRPr sz="3000" kern="1200">
        <a:solidFill>
          <a:srgbClr val="263750"/>
        </a:solidFill>
        <a:latin typeface="Palatino" charset="0"/>
        <a:ea typeface="ヒラギノ明朝 ProN W3" charset="0"/>
        <a:cs typeface="ヒラギノ明朝 ProN W3" charset="0"/>
        <a:sym typeface="Palatino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71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5" autoAdjust="0"/>
    <p:restoredTop sz="86373" autoAdjust="0"/>
  </p:normalViewPr>
  <p:slideViewPr>
    <p:cSldViewPr>
      <p:cViewPr>
        <p:scale>
          <a:sx n="70" d="100"/>
          <a:sy n="70" d="100"/>
        </p:scale>
        <p:origin x="630" y="-1230"/>
      </p:cViewPr>
      <p:guideLst>
        <p:guide orient="horz" pos="3072"/>
        <p:guide pos="409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2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5" Type="http://schemas.openxmlformats.org/officeDocument/2006/relationships/slide" Target="slides/slide5.xml"/><Relationship Id="rId10" Type="http://schemas.openxmlformats.org/officeDocument/2006/relationships/slide" Target="slides/slide10.xml"/><Relationship Id="rId4" Type="http://schemas.openxmlformats.org/officeDocument/2006/relationships/slide" Target="slides/slide4.xml"/><Relationship Id="rId9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Book Antiqua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Book Antiqua"/>
              </a:defRPr>
            </a:lvl1pPr>
          </a:lstStyle>
          <a:p>
            <a:fld id="{E778284F-7361-964D-92DD-17429E9BCFDB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Book Antiqua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Book Antiqua"/>
              </a:defRPr>
            </a:lvl1pPr>
          </a:lstStyle>
          <a:p>
            <a:fld id="{19D77F67-74EF-F540-A37E-3845DB1412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69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808440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416750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5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08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91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7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19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71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52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76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D77F67-74EF-F540-A37E-3845DB1412F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324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570233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1758984" y="9499600"/>
            <a:ext cx="864816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err="1">
                <a:latin typeface="Book Antiqua"/>
              </a:rPr>
              <a:t>Ch.x</a:t>
            </a:r>
            <a:r>
              <a:rPr lang="en-US" dirty="0">
                <a:latin typeface="Book Antiqua"/>
              </a:rPr>
              <a:t>/</a:t>
            </a:r>
            <a:fld id="{B9BE72AF-AF1A-1E41-B881-D8119A052D15}" type="slidenum">
              <a:rPr lang="en-US" smtClean="0">
                <a:latin typeface="Book Antiqua"/>
              </a:rPr>
              <a:pPr/>
              <a:t>‹#›</a:t>
            </a:fld>
            <a:endParaRPr lang="en-US" dirty="0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131650208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1758984" y="9499600"/>
            <a:ext cx="864816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 err="1">
                <a:latin typeface="Book Antiqua"/>
              </a:rPr>
              <a:t>Ch.x</a:t>
            </a:r>
            <a:r>
              <a:rPr lang="en-US" dirty="0">
                <a:latin typeface="Book Antiqua"/>
              </a:rPr>
              <a:t>/</a:t>
            </a:r>
            <a:fld id="{D01B99BC-F82C-D046-99BD-FBA1D66F1CB4}" type="slidenum">
              <a:rPr lang="en-US" smtClean="0">
                <a:latin typeface="Book Antiqua"/>
              </a:rPr>
              <a:pPr/>
              <a:t>‹#›</a:t>
            </a:fld>
            <a:endParaRPr lang="en-US" dirty="0"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0870083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6267450"/>
            <a:ext cx="11053762" cy="19367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413385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C12595A0-9662-7443-BA62-0D3B6483F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79465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489200"/>
            <a:ext cx="6070600" cy="6769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5900" y="2489200"/>
            <a:ext cx="6070600" cy="6769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F0ED71BB-118A-9E4C-B08B-8FE12AFF2A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5384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65069F6B-CB1A-844B-A44A-5B7ABA595A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5966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8801E1DC-9A09-2845-A773-BB78DAEA547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65515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E37D4F0C-152B-054F-ABE3-C9D6581630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3371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97C1C413-B9D3-E347-8928-0B2F5344809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64622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B604E31D-27C9-7146-8686-2BC96041BB7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69194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FDF4A1D1-6440-3F47-BC8E-C1E8499F2E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71350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2625" y="444500"/>
            <a:ext cx="3076575" cy="881380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44500"/>
            <a:ext cx="9077325" cy="881380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12357100" y="9499600"/>
            <a:ext cx="266700" cy="304800"/>
          </a:xfrm>
          <a:prstGeom prst="rect">
            <a:avLst/>
          </a:prstGeom>
        </p:spPr>
        <p:txBody>
          <a:bodyPr/>
          <a:lstStyle>
            <a:lvl1pPr>
              <a:defRPr>
                <a:latin typeface="Book Antiqua"/>
              </a:defRPr>
            </a:lvl1pPr>
          </a:lstStyle>
          <a:p>
            <a:fld id="{2F3FA9A2-5116-5544-A00E-FC7EF820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36442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489200"/>
            <a:ext cx="12293600" cy="676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dirty="0">
                <a:sym typeface="Palatino" charset="0"/>
              </a:rPr>
              <a:t>Click to edit Master text styles</a:t>
            </a:r>
          </a:p>
          <a:p>
            <a:pPr lvl="1"/>
            <a:r>
              <a:rPr lang="en-CA" dirty="0">
                <a:sym typeface="Palatino" charset="0"/>
              </a:rPr>
              <a:t>Second level</a:t>
            </a:r>
          </a:p>
          <a:p>
            <a:pPr lvl="2"/>
            <a:r>
              <a:rPr lang="en-CA" dirty="0">
                <a:sym typeface="Palatino" charset="0"/>
              </a:rPr>
              <a:t>Third level</a:t>
            </a:r>
          </a:p>
          <a:p>
            <a:pPr lvl="3"/>
            <a:r>
              <a:rPr lang="en-CA" dirty="0">
                <a:sym typeface="Palatino" charset="0"/>
              </a:rPr>
              <a:t>Fourth level</a:t>
            </a:r>
          </a:p>
          <a:p>
            <a:pPr lvl="4"/>
            <a:r>
              <a:rPr lang="en-CA" dirty="0">
                <a:sym typeface="Palatino" charset="0"/>
              </a:rPr>
              <a:t>Fifth level</a:t>
            </a:r>
            <a:endParaRPr lang="en-US" dirty="0">
              <a:sym typeface="Palatino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444500"/>
            <a:ext cx="12293600" cy="161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CA">
                <a:sym typeface="Didot" charset="0"/>
              </a:rPr>
              <a:t>Click to edit Master title style</a:t>
            </a:r>
            <a:endParaRPr lang="en-US">
              <a:sym typeface="Didot" charset="0"/>
            </a:endParaRPr>
          </a:p>
        </p:txBody>
      </p:sp>
      <p:grpSp>
        <p:nvGrpSpPr>
          <p:cNvPr id="2051" name="Group 3"/>
          <p:cNvGrpSpPr>
            <a:grpSpLocks/>
          </p:cNvGrpSpPr>
          <p:nvPr/>
        </p:nvGrpSpPr>
        <p:grpSpPr bwMode="auto">
          <a:xfrm>
            <a:off x="404813" y="2235200"/>
            <a:ext cx="12193587" cy="50800"/>
            <a:chOff x="0" y="0"/>
            <a:chExt cx="7680" cy="32"/>
          </a:xfrm>
        </p:grpSpPr>
        <p:sp>
          <p:nvSpPr>
            <p:cNvPr id="2052" name="Line 4"/>
            <p:cNvSpPr>
              <a:spLocks noChangeShapeType="1"/>
            </p:cNvSpPr>
            <p:nvPr/>
          </p:nvSpPr>
          <p:spPr bwMode="auto">
            <a:xfrm>
              <a:off x="0" y="0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2053" name="Line 5"/>
            <p:cNvSpPr>
              <a:spLocks noChangeShapeType="1"/>
            </p:cNvSpPr>
            <p:nvPr/>
          </p:nvSpPr>
          <p:spPr bwMode="auto">
            <a:xfrm>
              <a:off x="0" y="32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</p:grpSp>
      <p:grpSp>
        <p:nvGrpSpPr>
          <p:cNvPr id="2054" name="Group 6"/>
          <p:cNvGrpSpPr>
            <a:grpSpLocks/>
          </p:cNvGrpSpPr>
          <p:nvPr/>
        </p:nvGrpSpPr>
        <p:grpSpPr bwMode="auto">
          <a:xfrm>
            <a:off x="393700" y="9347200"/>
            <a:ext cx="12192000" cy="50800"/>
            <a:chOff x="0" y="0"/>
            <a:chExt cx="7680" cy="32"/>
          </a:xfrm>
        </p:grpSpPr>
        <p:sp>
          <p:nvSpPr>
            <p:cNvPr id="2055" name="Line 7"/>
            <p:cNvSpPr>
              <a:spLocks noChangeShapeType="1"/>
            </p:cNvSpPr>
            <p:nvPr/>
          </p:nvSpPr>
          <p:spPr bwMode="auto">
            <a:xfrm>
              <a:off x="0" y="0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  <p:sp>
          <p:nvSpPr>
            <p:cNvPr id="2056" name="Line 8"/>
            <p:cNvSpPr>
              <a:spLocks noChangeShapeType="1"/>
            </p:cNvSpPr>
            <p:nvPr/>
          </p:nvSpPr>
          <p:spPr bwMode="auto">
            <a:xfrm>
              <a:off x="0" y="32"/>
              <a:ext cx="7680" cy="0"/>
            </a:xfrm>
            <a:prstGeom prst="line">
              <a:avLst/>
            </a:prstGeom>
            <a:noFill/>
            <a:ln w="12700" cap="flat">
              <a:solidFill>
                <a:srgbClr val="6682AA"/>
              </a:solidFill>
              <a:prstDash val="solid"/>
              <a:miter lim="800000"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 dirty="0">
                <a:latin typeface="Book Antiqua"/>
              </a:endParaRPr>
            </a:p>
          </p:txBody>
        </p:sp>
      </p:grpSp>
      <p:sp>
        <p:nvSpPr>
          <p:cNvPr id="2057" name="Rectangle 9"/>
          <p:cNvSpPr>
            <a:spLocks/>
          </p:cNvSpPr>
          <p:nvPr/>
        </p:nvSpPr>
        <p:spPr bwMode="auto">
          <a:xfrm>
            <a:off x="425590" y="9521567"/>
            <a:ext cx="1258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Distributed DBMS</a:t>
            </a:r>
          </a:p>
        </p:txBody>
      </p:sp>
      <p:sp>
        <p:nvSpPr>
          <p:cNvPr id="2058" name="Rectangle 10"/>
          <p:cNvSpPr>
            <a:spLocks/>
          </p:cNvSpPr>
          <p:nvPr/>
        </p:nvSpPr>
        <p:spPr bwMode="auto">
          <a:xfrm>
            <a:off x="5571333" y="9521567"/>
            <a:ext cx="190023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0" bIns="0" anchor="ctr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© M. T. </a:t>
            </a:r>
            <a:r>
              <a:rPr lang="en-US" sz="1200" dirty="0" err="1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Özsu</a:t>
            </a:r>
            <a:r>
              <a:rPr lang="en-US" sz="1200" dirty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 &amp; P. </a:t>
            </a:r>
            <a:r>
              <a:rPr lang="en-US" sz="1200" dirty="0" err="1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Valduriez</a:t>
            </a:r>
            <a:endParaRPr lang="en-US" sz="1200" dirty="0">
              <a:solidFill>
                <a:schemeClr val="tx1"/>
              </a:solidFill>
              <a:latin typeface="Book Antiqua"/>
              <a:ea typeface="ＭＳ Ｐゴシック" charset="0"/>
              <a:cs typeface="Book Antiqua"/>
            </a:endParaRPr>
          </a:p>
        </p:txBody>
      </p:sp>
      <p:sp>
        <p:nvSpPr>
          <p:cNvPr id="13" name="Rectangle 10"/>
          <p:cNvSpPr>
            <a:spLocks/>
          </p:cNvSpPr>
          <p:nvPr/>
        </p:nvSpPr>
        <p:spPr bwMode="auto">
          <a:xfrm>
            <a:off x="11254928" y="9538899"/>
            <a:ext cx="14038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Book Antiqua"/>
                <a:ea typeface="ＭＳ Ｐゴシック" charset="0"/>
                <a:cs typeface="Book Antiqua"/>
              </a:rPr>
              <a:t>Ch.6/</a:t>
            </a:r>
            <a:fld id="{5E48BB5D-946E-5F48-82DF-AC330131550D}" type="slidenum">
              <a:rPr lang="en-US" sz="1200" smtClean="0">
                <a:latin typeface="Book Antiqua"/>
              </a:rPr>
              <a:pPr algn="r"/>
              <a:t>‹#›</a:t>
            </a:fld>
            <a:endParaRPr lang="en-US" sz="1200" dirty="0">
              <a:solidFill>
                <a:schemeClr val="tx1"/>
              </a:solidFill>
              <a:latin typeface="Book Antiqua"/>
              <a:ea typeface="ＭＳ Ｐゴシック" charset="0"/>
              <a:cs typeface="Book Antiqu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ransition/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+mj-lt"/>
          <a:ea typeface="+mj-ea"/>
          <a:cs typeface="+mj-cs"/>
          <a:sym typeface="Didot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6400">
          <a:solidFill>
            <a:srgbClr val="253750"/>
          </a:solidFill>
          <a:latin typeface="Didot" charset="0"/>
          <a:ea typeface="ヒラギノ明朝 ProN W3" charset="0"/>
          <a:cs typeface="ヒラギノ明朝 ProN W3" charset="0"/>
          <a:sym typeface="Didot" charset="0"/>
        </a:defRPr>
      </a:lvl9pPr>
    </p:titleStyle>
    <p:bodyStyle>
      <a:lvl1pPr marL="3683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150000"/>
        <a:buFont typeface="Palatino" charset="0"/>
        <a:buChar char="•"/>
        <a:defRPr sz="28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1pPr>
      <a:lvl2pPr marL="7620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85000"/>
        <a:buFont typeface="Zapf Dingbats" charset="0"/>
        <a:buChar char="➡"/>
        <a:defRPr sz="26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2pPr>
      <a:lvl3pPr marL="12065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80000"/>
        <a:buFont typeface="Zapf Dingbats" charset="0"/>
        <a:buChar char="✦"/>
        <a:defRPr sz="24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3pPr>
      <a:lvl4pPr marL="16510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69000"/>
        <a:buFont typeface="Lucida Grande" charset="0"/>
        <a:buChar char="✓"/>
        <a:defRPr sz="2000"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4pPr>
      <a:lvl5pPr marL="20955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Book Antiqua"/>
          <a:ea typeface="+mn-ea"/>
          <a:cs typeface="+mn-cs"/>
          <a:sym typeface="Palatino" charset="0"/>
        </a:defRPr>
      </a:lvl5pPr>
      <a:lvl6pPr marL="25527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6pPr>
      <a:lvl7pPr marL="30099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7pPr>
      <a:lvl8pPr marL="34671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8pPr>
      <a:lvl9pPr marL="3924300" indent="-368300" algn="l" rtl="0" eaLnBrk="1" fontAlgn="base" hangingPunct="1">
        <a:spcBef>
          <a:spcPts val="1200"/>
        </a:spcBef>
        <a:spcAft>
          <a:spcPct val="0"/>
        </a:spcAft>
        <a:buClr>
          <a:srgbClr val="4A71A9"/>
        </a:buClr>
        <a:buSzPct val="50000"/>
        <a:buFont typeface="Zapf Dingbats" charset="0"/>
        <a:buChar char="✤"/>
        <a:defRPr>
          <a:solidFill>
            <a:srgbClr val="000000"/>
          </a:solidFill>
          <a:latin typeface="+mn-lt"/>
          <a:ea typeface="+mn-ea"/>
          <a:cs typeface="+mn-cs"/>
          <a:sym typeface="Palatino" charset="0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Query Processing in a DDBMS</a:t>
            </a: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4497380" y="2655147"/>
            <a:ext cx="3757172" cy="5585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28691" tIns="63217" rIns="128691" bIns="63217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solidFill>
                  <a:schemeClr val="tx2"/>
                </a:solidFill>
                <a:latin typeface="Book Antiqua"/>
              </a:rPr>
              <a:t>high level user query</a:t>
            </a: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5431842" y="4434275"/>
            <a:ext cx="2143291" cy="1282418"/>
          </a:xfrm>
          <a:prstGeom prst="rect">
            <a:avLst/>
          </a:prstGeom>
          <a:solidFill>
            <a:schemeClr val="accent4">
              <a:lumMod val="90000"/>
              <a:lumOff val="10000"/>
            </a:schemeClr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5578555" y="4516760"/>
            <a:ext cx="1849864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Book Antiqua"/>
              </a:rPr>
              <a:t>query</a:t>
            </a:r>
          </a:p>
          <a:p>
            <a:r>
              <a:rPr lang="en-US" b="1" dirty="0">
                <a:solidFill>
                  <a:schemeClr val="bg2">
                    <a:lumMod val="20000"/>
                    <a:lumOff val="80000"/>
                  </a:schemeClr>
                </a:solidFill>
                <a:latin typeface="Book Antiqua"/>
              </a:rPr>
              <a:t>processor </a:t>
            </a:r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6477565" y="3178951"/>
            <a:ext cx="0" cy="1255324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6477565" y="5725725"/>
            <a:ext cx="0" cy="1390791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Arial"/>
            </a:endParaRPr>
          </a:p>
        </p:txBody>
      </p:sp>
      <p:sp>
        <p:nvSpPr>
          <p:cNvPr id="6159" name="Text Box 15"/>
          <p:cNvSpPr txBox="1">
            <a:spLocks noChangeArrowheads="1"/>
          </p:cNvSpPr>
          <p:nvPr/>
        </p:nvSpPr>
        <p:spPr bwMode="auto">
          <a:xfrm>
            <a:off x="3875557" y="7335522"/>
            <a:ext cx="5210839" cy="10546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30046" tIns="65023" rIns="130046" bIns="65023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Book Antiqua"/>
              </a:rPr>
              <a:t>Low-level data manipulation</a:t>
            </a:r>
          </a:p>
          <a:p>
            <a:r>
              <a:rPr lang="en-US" dirty="0">
                <a:solidFill>
                  <a:schemeClr val="tx2"/>
                </a:solidFill>
                <a:latin typeface="Book Antiqua"/>
              </a:rPr>
              <a:t> commands for D-DBMS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Query Processing Components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100000"/>
              </a:lnSpc>
              <a:spcBef>
                <a:spcPct val="80000"/>
              </a:spcBef>
            </a:pPr>
            <a:r>
              <a:rPr lang="en-US" dirty="0"/>
              <a:t>Query language that is used</a:t>
            </a:r>
          </a:p>
          <a:p>
            <a:pPr lvl="1">
              <a:lnSpc>
                <a:spcPct val="100000"/>
              </a:lnSpc>
              <a:spcBef>
                <a:spcPct val="80000"/>
              </a:spcBef>
            </a:pPr>
            <a:r>
              <a:rPr lang="en-US" dirty="0"/>
              <a:t>SQL: </a:t>
            </a:r>
          </a:p>
          <a:p>
            <a:pPr>
              <a:spcBef>
                <a:spcPct val="80000"/>
              </a:spcBef>
            </a:pPr>
            <a:r>
              <a:rPr lang="en-US" sz="3000" dirty="0"/>
              <a:t>Query</a:t>
            </a:r>
            <a:r>
              <a:rPr lang="en-US" dirty="0"/>
              <a:t> execution methodology</a:t>
            </a:r>
          </a:p>
          <a:p>
            <a:pPr lvl="1">
              <a:lnSpc>
                <a:spcPct val="100000"/>
              </a:lnSpc>
              <a:spcBef>
                <a:spcPct val="80000"/>
              </a:spcBef>
            </a:pPr>
            <a:r>
              <a:rPr lang="en-US" dirty="0"/>
              <a:t>The steps that one goes through in executing high-level (declarative) user queries.</a:t>
            </a:r>
          </a:p>
          <a:p>
            <a:pPr>
              <a:lnSpc>
                <a:spcPct val="100000"/>
              </a:lnSpc>
              <a:spcBef>
                <a:spcPct val="80000"/>
              </a:spcBef>
            </a:pPr>
            <a:r>
              <a:rPr lang="en-US" dirty="0"/>
              <a:t>Query optimization</a:t>
            </a:r>
          </a:p>
          <a:p>
            <a:pPr lvl="1">
              <a:lnSpc>
                <a:spcPct val="100000"/>
              </a:lnSpc>
              <a:spcBef>
                <a:spcPct val="80000"/>
              </a:spcBef>
            </a:pPr>
            <a:r>
              <a:rPr lang="en-US" dirty="0"/>
              <a:t>How do we determine the “best” execution plan?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idx="1"/>
          </p:nvPr>
        </p:nvSpPr>
        <p:spPr>
          <a:xfrm>
            <a:off x="1245816" y="2500536"/>
            <a:ext cx="11017224" cy="6769100"/>
          </a:xfrm>
          <a:noFill/>
        </p:spPr>
        <p:txBody>
          <a:bodyPr/>
          <a:lstStyle/>
          <a:p>
            <a:pPr marL="1031789">
              <a:spcBef>
                <a:spcPct val="0"/>
              </a:spcBef>
              <a:spcAft>
                <a:spcPct val="5000"/>
              </a:spcAft>
              <a:buNone/>
              <a:tabLst>
                <a:tab pos="1300460" algn="l"/>
                <a:tab pos="17813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ENAME</a:t>
            </a:r>
          </a:p>
          <a:p>
            <a:pPr marL="1031789">
              <a:spcBef>
                <a:spcPct val="0"/>
              </a:spcBef>
              <a:spcAft>
                <a:spcPct val="5000"/>
              </a:spcAft>
              <a:buNone/>
              <a:tabLst>
                <a:tab pos="1300460" algn="l"/>
                <a:tab pos="17813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FROM</a:t>
            </a:r>
            <a:r>
              <a:rPr lang="en-US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EMP,ASG</a:t>
            </a:r>
          </a:p>
          <a:p>
            <a:pPr marL="1031789">
              <a:spcBef>
                <a:spcPct val="0"/>
              </a:spcBef>
              <a:spcAft>
                <a:spcPct val="5000"/>
              </a:spcAft>
              <a:buNone/>
              <a:tabLst>
                <a:tab pos="1300460" algn="l"/>
                <a:tab pos="17813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WHERE</a:t>
            </a:r>
            <a:r>
              <a:rPr lang="en-US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EMP.ENO = ASG.ENO </a:t>
            </a:r>
          </a:p>
          <a:p>
            <a:pPr marL="1031789">
              <a:spcBef>
                <a:spcPct val="0"/>
              </a:spcBef>
              <a:spcAft>
                <a:spcPct val="5000"/>
              </a:spcAft>
              <a:buNone/>
              <a:tabLst>
                <a:tab pos="1300460" algn="l"/>
                <a:tab pos="17813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AND		</a:t>
            </a:r>
            <a:r>
              <a:rPr lang="en-US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RESP = "Manager"</a:t>
            </a:r>
          </a:p>
          <a:p>
            <a:pPr>
              <a:tabLst>
                <a:tab pos="1300460" algn="l"/>
                <a:tab pos="1788132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endParaRPr lang="en-US" dirty="0">
              <a:solidFill>
                <a:schemeClr val="tx2"/>
              </a:solidFill>
            </a:endParaRPr>
          </a:p>
          <a:p>
            <a:pPr>
              <a:buNone/>
              <a:tabLst>
                <a:tab pos="1300460" algn="l"/>
                <a:tab pos="1788132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dirty="0">
                <a:solidFill>
                  <a:schemeClr val="tx2"/>
                </a:solidFill>
              </a:rPr>
              <a:t>Strategy 1</a:t>
            </a:r>
          </a:p>
          <a:p>
            <a:pPr>
              <a:buNone/>
              <a:tabLst>
                <a:tab pos="1300460" algn="l"/>
                <a:tab pos="1788132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dirty="0">
                <a:solidFill>
                  <a:schemeClr val="tx2"/>
                </a:solidFill>
                <a:latin typeface="Symbol" charset="2"/>
                <a:sym typeface="Symbol"/>
              </a:rPr>
              <a:t>	</a:t>
            </a:r>
            <a:r>
              <a:rPr lang="en-US" baseline="-25000" dirty="0">
                <a:solidFill>
                  <a:schemeClr val="tx2"/>
                </a:solidFill>
              </a:rPr>
              <a:t>ENAME</a:t>
            </a:r>
            <a:r>
              <a:rPr lang="en-US" dirty="0">
                <a:solidFill>
                  <a:schemeClr val="tx2"/>
                </a:solidFill>
              </a:rPr>
              <a:t>(</a:t>
            </a:r>
            <a:r>
              <a:rPr lang="en-US" dirty="0">
                <a:solidFill>
                  <a:schemeClr val="tx2"/>
                </a:solidFill>
                <a:latin typeface="Symbol" charset="2"/>
                <a:sym typeface="Symbol"/>
              </a:rPr>
              <a:t></a:t>
            </a:r>
            <a:r>
              <a:rPr lang="en-US" baseline="-25000" dirty="0">
                <a:solidFill>
                  <a:schemeClr val="tx2"/>
                </a:solidFill>
              </a:rPr>
              <a:t>RESP=“Manager”</a:t>
            </a:r>
            <a:r>
              <a:rPr lang="en-US" baseline="-25000" dirty="0">
                <a:solidFill>
                  <a:schemeClr val="tx2"/>
                </a:solidFill>
                <a:latin typeface="Symbol" charset="2"/>
                <a:sym typeface="Symbol"/>
              </a:rPr>
              <a:t></a:t>
            </a:r>
            <a:r>
              <a:rPr lang="en-US" baseline="-25000" dirty="0">
                <a:solidFill>
                  <a:schemeClr val="tx2"/>
                </a:solidFill>
              </a:rPr>
              <a:t>EMP.ENO=ASG.ENO</a:t>
            </a:r>
            <a:r>
              <a:rPr lang="en-US" dirty="0">
                <a:solidFill>
                  <a:schemeClr val="tx2"/>
                </a:solidFill>
              </a:rPr>
              <a:t>(EMP×ASG))</a:t>
            </a:r>
          </a:p>
          <a:p>
            <a:pPr>
              <a:buNone/>
              <a:tabLst>
                <a:tab pos="1300460" algn="l"/>
                <a:tab pos="1788132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dirty="0">
                <a:solidFill>
                  <a:schemeClr val="tx2"/>
                </a:solidFill>
              </a:rPr>
              <a:t>Strategy 2</a:t>
            </a:r>
          </a:p>
          <a:p>
            <a:pPr>
              <a:lnSpc>
                <a:spcPts val="4267"/>
              </a:lnSpc>
              <a:spcAft>
                <a:spcPts val="1422"/>
              </a:spcAft>
              <a:buNone/>
              <a:tabLst>
                <a:tab pos="1300460" algn="l"/>
                <a:tab pos="1788132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dirty="0">
                <a:solidFill>
                  <a:schemeClr val="tx2"/>
                </a:solidFill>
                <a:latin typeface="Symbol" charset="2"/>
                <a:sym typeface="Symbol"/>
              </a:rPr>
              <a:t>	 </a:t>
            </a:r>
            <a:r>
              <a:rPr lang="en-US" baseline="-25000" dirty="0">
                <a:solidFill>
                  <a:schemeClr val="tx2"/>
                </a:solidFill>
              </a:rPr>
              <a:t>ENAME</a:t>
            </a:r>
            <a:r>
              <a:rPr lang="en-US" dirty="0">
                <a:solidFill>
                  <a:schemeClr val="tx2"/>
                </a:solidFill>
              </a:rPr>
              <a:t>(EMP</a:t>
            </a:r>
            <a:r>
              <a:rPr lang="en-US" baseline="-25000" dirty="0">
                <a:solidFill>
                  <a:schemeClr val="tx2"/>
                </a:solidFill>
              </a:rPr>
              <a:t> </a:t>
            </a:r>
            <a:r>
              <a:rPr lang="en-US" dirty="0"/>
              <a:t>⋈</a:t>
            </a:r>
            <a:r>
              <a:rPr lang="en-US" baseline="-25000" dirty="0">
                <a:solidFill>
                  <a:schemeClr val="tx2"/>
                </a:solidFill>
              </a:rPr>
              <a:t>ENO</a:t>
            </a:r>
            <a:r>
              <a:rPr lang="en-US" dirty="0">
                <a:solidFill>
                  <a:schemeClr val="tx2"/>
                </a:solidFill>
              </a:rPr>
              <a:t> (</a:t>
            </a:r>
            <a:r>
              <a:rPr lang="en-US" dirty="0">
                <a:solidFill>
                  <a:schemeClr val="tx2"/>
                </a:solidFill>
                <a:latin typeface="Symbol" charset="2"/>
                <a:sym typeface="Symbol"/>
              </a:rPr>
              <a:t></a:t>
            </a:r>
            <a:r>
              <a:rPr lang="en-US" baseline="-25000" dirty="0">
                <a:solidFill>
                  <a:schemeClr val="tx2"/>
                </a:solidFill>
              </a:rPr>
              <a:t>RESP=“Manager” </a:t>
            </a:r>
            <a:r>
              <a:rPr lang="en-US" dirty="0">
                <a:solidFill>
                  <a:schemeClr val="tx2"/>
                </a:solidFill>
              </a:rPr>
              <a:t>(ASG))</a:t>
            </a:r>
          </a:p>
          <a:p>
            <a:pPr>
              <a:spcAft>
                <a:spcPts val="18"/>
              </a:spcAft>
              <a:buNone/>
              <a:tabLst>
                <a:tab pos="1300460" algn="l"/>
                <a:tab pos="1788132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  <a:tab pos="1137902" algn="l"/>
                <a:tab pos="1300460" algn="l"/>
                <a:tab pos="2600919" algn="l"/>
                <a:tab pos="3901379" algn="l"/>
                <a:tab pos="5201839" algn="l"/>
              </a:tabLst>
            </a:pPr>
            <a:r>
              <a:rPr lang="en-US" dirty="0">
                <a:solidFill>
                  <a:schemeClr val="tx2"/>
                </a:solidFill>
              </a:rPr>
              <a:t>Strategy 2 avoids Cartesian product, so may be “better”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"/>
              </a:spcAft>
            </a:pPr>
            <a:r>
              <a:rPr lang="en-US" dirty="0"/>
              <a:t>Selecting Alternatives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What is the Problem?</a:t>
            </a:r>
          </a:p>
        </p:txBody>
      </p:sp>
      <p:sp>
        <p:nvSpPr>
          <p:cNvPr id="51" name="Text Box 3"/>
          <p:cNvSpPr txBox="1">
            <a:spLocks noChangeArrowheads="1"/>
          </p:cNvSpPr>
          <p:nvPr/>
        </p:nvSpPr>
        <p:spPr bwMode="auto">
          <a:xfrm>
            <a:off x="1037489" y="2486812"/>
            <a:ext cx="973023" cy="52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4124"/>
              </a:lnSpc>
              <a:tabLst>
                <a:tab pos="0" algn="l"/>
                <a:tab pos="1300460" algn="l"/>
              </a:tabLst>
            </a:pPr>
            <a:r>
              <a:rPr lang="en-US" sz="3200" u="sng" dirty="0">
                <a:solidFill>
                  <a:schemeClr val="tx2"/>
                </a:solidFill>
                <a:latin typeface="Book Antiqua"/>
              </a:rPr>
              <a:t>Site 1</a:t>
            </a:r>
          </a:p>
        </p:txBody>
      </p:sp>
      <p:sp>
        <p:nvSpPr>
          <p:cNvPr id="52" name="Text Box 4"/>
          <p:cNvSpPr txBox="1">
            <a:spLocks noChangeArrowheads="1"/>
          </p:cNvSpPr>
          <p:nvPr/>
        </p:nvSpPr>
        <p:spPr bwMode="auto">
          <a:xfrm>
            <a:off x="3990663" y="2486812"/>
            <a:ext cx="973023" cy="52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4124"/>
              </a:lnSpc>
              <a:tabLst>
                <a:tab pos="0" algn="l"/>
                <a:tab pos="1300460" algn="l"/>
              </a:tabLst>
            </a:pPr>
            <a:r>
              <a:rPr lang="en-US" sz="3200" u="sng" dirty="0">
                <a:solidFill>
                  <a:schemeClr val="tx2"/>
                </a:solidFill>
                <a:latin typeface="Book Antiqua"/>
              </a:rPr>
              <a:t>Site 2</a:t>
            </a:r>
          </a:p>
        </p:txBody>
      </p:sp>
      <p:sp>
        <p:nvSpPr>
          <p:cNvPr id="53" name="Text Box 5"/>
          <p:cNvSpPr txBox="1">
            <a:spLocks noChangeArrowheads="1"/>
          </p:cNvSpPr>
          <p:nvPr/>
        </p:nvSpPr>
        <p:spPr bwMode="auto">
          <a:xfrm>
            <a:off x="6508084" y="2486812"/>
            <a:ext cx="973023" cy="52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4124"/>
              </a:lnSpc>
              <a:tabLst>
                <a:tab pos="0" algn="l"/>
                <a:tab pos="1300460" algn="l"/>
              </a:tabLst>
            </a:pPr>
            <a:r>
              <a:rPr lang="en-US" sz="3200" u="sng" dirty="0">
                <a:solidFill>
                  <a:schemeClr val="tx2"/>
                </a:solidFill>
                <a:latin typeface="Book Antiqua"/>
              </a:rPr>
              <a:t>Site 3</a:t>
            </a:r>
          </a:p>
        </p:txBody>
      </p:sp>
      <p:sp>
        <p:nvSpPr>
          <p:cNvPr id="54" name="Text Box 6"/>
          <p:cNvSpPr txBox="1">
            <a:spLocks noChangeArrowheads="1"/>
          </p:cNvSpPr>
          <p:nvPr/>
        </p:nvSpPr>
        <p:spPr bwMode="auto">
          <a:xfrm>
            <a:off x="9013415" y="2486812"/>
            <a:ext cx="974626" cy="52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4124"/>
              </a:lnSpc>
              <a:tabLst>
                <a:tab pos="0" algn="l"/>
                <a:tab pos="1300460" algn="l"/>
              </a:tabLst>
            </a:pPr>
            <a:r>
              <a:rPr lang="en-US" sz="3200" u="sng" dirty="0">
                <a:solidFill>
                  <a:schemeClr val="tx2"/>
                </a:solidFill>
                <a:latin typeface="Book Antiqua"/>
              </a:rPr>
              <a:t>Site 4</a:t>
            </a:r>
          </a:p>
        </p:txBody>
      </p:sp>
      <p:sp>
        <p:nvSpPr>
          <p:cNvPr id="55" name="Text Box 7"/>
          <p:cNvSpPr txBox="1">
            <a:spLocks noChangeArrowheads="1"/>
          </p:cNvSpPr>
          <p:nvPr/>
        </p:nvSpPr>
        <p:spPr bwMode="auto">
          <a:xfrm>
            <a:off x="11441329" y="2486812"/>
            <a:ext cx="973023" cy="522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4124"/>
              </a:lnSpc>
              <a:tabLst>
                <a:tab pos="0" algn="l"/>
                <a:tab pos="1300460" algn="l"/>
              </a:tabLst>
            </a:pPr>
            <a:r>
              <a:rPr lang="en-US" sz="3200" u="sng" dirty="0">
                <a:solidFill>
                  <a:schemeClr val="tx2"/>
                </a:solidFill>
                <a:latin typeface="Book Antiqua"/>
              </a:rPr>
              <a:t>Site 5</a:t>
            </a:r>
          </a:p>
        </p:txBody>
      </p:sp>
      <p:sp>
        <p:nvSpPr>
          <p:cNvPr id="56" name="Text Box 8"/>
          <p:cNvSpPr txBox="1">
            <a:spLocks noChangeArrowheads="1"/>
          </p:cNvSpPr>
          <p:nvPr/>
        </p:nvSpPr>
        <p:spPr bwMode="auto">
          <a:xfrm>
            <a:off x="5622269" y="3806268"/>
            <a:ext cx="2768048" cy="3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  <a:tab pos="1300460" algn="l"/>
                <a:tab pos="2600919" algn="l"/>
              </a:tabLst>
            </a:pPr>
            <a:r>
              <a:rPr lang="en-US" sz="1700" dirty="0">
                <a:solidFill>
                  <a:schemeClr val="tx2"/>
                </a:solidFill>
                <a:latin typeface="Arial" charset="0"/>
              </a:rPr>
              <a:t>EMP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1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=</a:t>
            </a:r>
            <a:r>
              <a:rPr lang="en-US" sz="1700" dirty="0">
                <a:solidFill>
                  <a:schemeClr val="tx2"/>
                </a:solidFill>
                <a:latin typeface="Symbol" charset="2"/>
                <a:cs typeface="Symbol" charset="2"/>
                <a:sym typeface="Symbol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Symbol" charset="2"/>
                <a:sym typeface="Symbol"/>
              </a:rPr>
              <a:t> 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ENO≤“E3”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(EMP)</a:t>
            </a:r>
          </a:p>
        </p:txBody>
      </p:sp>
      <p:sp>
        <p:nvSpPr>
          <p:cNvPr id="57" name="Text Box 9"/>
          <p:cNvSpPr txBox="1">
            <a:spLocks noChangeArrowheads="1"/>
          </p:cNvSpPr>
          <p:nvPr/>
        </p:nvSpPr>
        <p:spPr bwMode="auto">
          <a:xfrm>
            <a:off x="8511671" y="3256715"/>
            <a:ext cx="269356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 algn="l">
              <a:lnSpc>
                <a:spcPts val="2418"/>
              </a:lnSpc>
              <a:tabLst>
                <a:tab pos="0" algn="l"/>
                <a:tab pos="1300460" algn="l"/>
                <a:tab pos="2600919" algn="l"/>
              </a:tabLst>
            </a:pPr>
            <a:r>
              <a:rPr lang="en-US" sz="1700" dirty="0">
                <a:solidFill>
                  <a:schemeClr val="tx2"/>
                </a:solidFill>
                <a:latin typeface="Arial" charset="0"/>
              </a:rPr>
              <a:t>EMP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2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=</a:t>
            </a:r>
            <a:r>
              <a:rPr lang="en-US" sz="1700" dirty="0">
                <a:solidFill>
                  <a:schemeClr val="tx2"/>
                </a:solidFill>
                <a:latin typeface="Symbol" charset="2"/>
                <a:cs typeface="Symbol" charset="2"/>
                <a:sym typeface="Symbol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Symbol" charset="2"/>
                <a:sym typeface="Symbol"/>
              </a:rPr>
              <a:t> 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ENO&gt;“E3”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(EMP)</a:t>
            </a:r>
          </a:p>
        </p:txBody>
      </p:sp>
      <p:sp>
        <p:nvSpPr>
          <p:cNvPr id="58" name="Text Box 10"/>
          <p:cNvSpPr txBox="1">
            <a:spLocks noChangeArrowheads="1"/>
          </p:cNvSpPr>
          <p:nvPr/>
        </p:nvSpPr>
        <p:spPr bwMode="auto">
          <a:xfrm>
            <a:off x="2825888" y="3585575"/>
            <a:ext cx="273416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  <a:tab pos="1300460" algn="l"/>
                <a:tab pos="2600919" algn="l"/>
              </a:tabLst>
            </a:pPr>
            <a:r>
              <a:rPr lang="en-US" sz="1700" dirty="0">
                <a:solidFill>
                  <a:schemeClr val="tx2"/>
                </a:solidFill>
                <a:latin typeface="Arial" charset="0"/>
              </a:rPr>
              <a:t>ASG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2</a:t>
            </a:r>
            <a:r>
              <a:rPr lang="en-US" sz="1700" dirty="0">
                <a:solidFill>
                  <a:schemeClr val="tx2"/>
                </a:solidFill>
                <a:latin typeface="Courier New"/>
              </a:rPr>
              <a:t>=</a:t>
            </a:r>
            <a:r>
              <a:rPr lang="en-US" sz="1700" dirty="0">
                <a:solidFill>
                  <a:schemeClr val="tx2"/>
                </a:solidFill>
                <a:latin typeface="Symbol" charset="2"/>
                <a:cs typeface="Symbol" charset="2"/>
                <a:sym typeface="Symbol"/>
              </a:rPr>
              <a:t> </a:t>
            </a:r>
            <a:r>
              <a:rPr lang="en-US" sz="2000" dirty="0">
                <a:solidFill>
                  <a:schemeClr val="tx2"/>
                </a:solidFill>
                <a:latin typeface="Symbol" charset="2"/>
                <a:sym typeface="Symbol"/>
              </a:rPr>
              <a:t> 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ENO&gt;“E3”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(ASG)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1" y="3256715"/>
            <a:ext cx="276126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  <a:tab pos="1300460" algn="l"/>
                <a:tab pos="2600919" algn="l"/>
              </a:tabLst>
            </a:pPr>
            <a:r>
              <a:rPr lang="en-US" sz="1700" dirty="0">
                <a:solidFill>
                  <a:schemeClr val="tx2"/>
                </a:solidFill>
                <a:latin typeface="Arial" charset="0"/>
              </a:rPr>
              <a:t>ASG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1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=</a:t>
            </a:r>
            <a:r>
              <a:rPr lang="en-US" sz="2000" dirty="0">
                <a:solidFill>
                  <a:schemeClr val="tx2"/>
                </a:solidFill>
                <a:latin typeface="Symbol" charset="2"/>
                <a:sym typeface="Symbol"/>
              </a:rPr>
              <a:t>  </a:t>
            </a:r>
            <a:r>
              <a:rPr lang="en-US" sz="2700" baseline="-25000" dirty="0">
                <a:solidFill>
                  <a:schemeClr val="tx2"/>
                </a:solidFill>
                <a:latin typeface="Arial" charset="0"/>
              </a:rPr>
              <a:t>ENO≤“E3”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(ASG)</a:t>
            </a:r>
          </a:p>
        </p:txBody>
      </p:sp>
      <p:sp>
        <p:nvSpPr>
          <p:cNvPr id="60" name="Text Box 12"/>
          <p:cNvSpPr txBox="1">
            <a:spLocks noChangeArrowheads="1"/>
          </p:cNvSpPr>
          <p:nvPr/>
        </p:nvSpPr>
        <p:spPr bwMode="auto">
          <a:xfrm>
            <a:off x="11569274" y="3761358"/>
            <a:ext cx="617939" cy="302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1700" dirty="0">
                <a:solidFill>
                  <a:schemeClr val="tx2"/>
                </a:solidFill>
                <a:latin typeface="Arial" charset="0"/>
              </a:rPr>
              <a:t>Result</a:t>
            </a:r>
          </a:p>
        </p:txBody>
      </p:sp>
      <p:sp>
        <p:nvSpPr>
          <p:cNvPr id="61" name="Text Box 14"/>
          <p:cNvSpPr txBox="1">
            <a:spLocks noChangeArrowheads="1"/>
          </p:cNvSpPr>
          <p:nvPr/>
        </p:nvSpPr>
        <p:spPr bwMode="auto">
          <a:xfrm>
            <a:off x="7537338" y="4740074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5</a:t>
            </a:r>
          </a:p>
        </p:txBody>
      </p:sp>
      <p:sp>
        <p:nvSpPr>
          <p:cNvPr id="62" name="Text Box 15"/>
          <p:cNvSpPr txBox="1">
            <a:spLocks noChangeArrowheads="1"/>
          </p:cNvSpPr>
          <p:nvPr/>
        </p:nvSpPr>
        <p:spPr bwMode="auto">
          <a:xfrm>
            <a:off x="7749569" y="6681763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1</a:t>
            </a:r>
          </a:p>
        </p:txBody>
      </p:sp>
      <p:sp>
        <p:nvSpPr>
          <p:cNvPr id="63" name="Text Box 16"/>
          <p:cNvSpPr txBox="1">
            <a:spLocks noChangeArrowheads="1"/>
          </p:cNvSpPr>
          <p:nvPr/>
        </p:nvSpPr>
        <p:spPr bwMode="auto">
          <a:xfrm>
            <a:off x="8762183" y="6681763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2</a:t>
            </a:r>
          </a:p>
        </p:txBody>
      </p:sp>
      <p:sp>
        <p:nvSpPr>
          <p:cNvPr id="64" name="Text Box 17"/>
          <p:cNvSpPr txBox="1">
            <a:spLocks noChangeArrowheads="1"/>
          </p:cNvSpPr>
          <p:nvPr/>
        </p:nvSpPr>
        <p:spPr bwMode="auto">
          <a:xfrm>
            <a:off x="10774991" y="6681763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3</a:t>
            </a: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11930372" y="6681763"/>
            <a:ext cx="730969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4</a:t>
            </a:r>
          </a:p>
        </p:txBody>
      </p:sp>
      <p:sp>
        <p:nvSpPr>
          <p:cNvPr id="66" name="Text Box 19"/>
          <p:cNvSpPr txBox="1">
            <a:spLocks noChangeArrowheads="1"/>
          </p:cNvSpPr>
          <p:nvPr/>
        </p:nvSpPr>
        <p:spPr bwMode="auto">
          <a:xfrm>
            <a:off x="7672377" y="6029265"/>
            <a:ext cx="649558" cy="3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tx2"/>
                </a:solidFill>
                <a:latin typeface="Arial" charset="0"/>
              </a:rPr>
              <a:t>ASG</a:t>
            </a:r>
            <a:r>
              <a:rPr lang="en-US" sz="2000" baseline="-25000" dirty="0">
                <a:solidFill>
                  <a:schemeClr val="tx2"/>
                </a:solidFill>
                <a:latin typeface="Arial" charset="0"/>
              </a:rPr>
              <a:t>1</a:t>
            </a:r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10969277" y="6029265"/>
            <a:ext cx="650886" cy="3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EMP</a:t>
            </a:r>
            <a:r>
              <a:rPr lang="en-US" sz="2000" baseline="-25000">
                <a:solidFill>
                  <a:schemeClr val="tx2"/>
                </a:solidFill>
                <a:latin typeface="Arial" charset="0"/>
              </a:rPr>
              <a:t>1</a:t>
            </a:r>
          </a:p>
        </p:txBody>
      </p:sp>
      <p:sp>
        <p:nvSpPr>
          <p:cNvPr id="68" name="Text Box 21"/>
          <p:cNvSpPr txBox="1">
            <a:spLocks noChangeArrowheads="1"/>
          </p:cNvSpPr>
          <p:nvPr/>
        </p:nvSpPr>
        <p:spPr bwMode="auto">
          <a:xfrm>
            <a:off x="12192993" y="6029265"/>
            <a:ext cx="650886" cy="3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000">
                <a:solidFill>
                  <a:schemeClr val="tx2"/>
                </a:solidFill>
                <a:latin typeface="Arial" charset="0"/>
              </a:rPr>
              <a:t>EMP</a:t>
            </a:r>
            <a:r>
              <a:rPr lang="en-US" sz="2000" baseline="-25000">
                <a:solidFill>
                  <a:schemeClr val="tx2"/>
                </a:solidFill>
                <a:latin typeface="Arial" charset="0"/>
              </a:rPr>
              <a:t>2</a:t>
            </a:r>
          </a:p>
        </p:txBody>
      </p:sp>
      <p:sp>
        <p:nvSpPr>
          <p:cNvPr id="69" name="Text Box 22"/>
          <p:cNvSpPr txBox="1">
            <a:spLocks noChangeArrowheads="1"/>
          </p:cNvSpPr>
          <p:nvPr/>
        </p:nvSpPr>
        <p:spPr bwMode="auto">
          <a:xfrm>
            <a:off x="8590632" y="6029265"/>
            <a:ext cx="649558" cy="3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000" dirty="0">
                <a:solidFill>
                  <a:schemeClr val="tx2"/>
                </a:solidFill>
                <a:latin typeface="Arial" charset="0"/>
              </a:rPr>
              <a:t>ASG</a:t>
            </a:r>
            <a:r>
              <a:rPr lang="en-US" sz="2000" baseline="-25000" dirty="0">
                <a:solidFill>
                  <a:schemeClr val="tx2"/>
                </a:solidFill>
                <a:latin typeface="Arial" charset="0"/>
              </a:rPr>
              <a:t>2</a:t>
            </a:r>
          </a:p>
        </p:txBody>
      </p:sp>
      <p:sp>
        <p:nvSpPr>
          <p:cNvPr id="70" name="Line 24"/>
          <p:cNvSpPr>
            <a:spLocks noChangeShapeType="1"/>
          </p:cNvSpPr>
          <p:nvPr/>
        </p:nvSpPr>
        <p:spPr bwMode="auto">
          <a:xfrm rot="10800000" flipH="1">
            <a:off x="8146062" y="5794456"/>
            <a:ext cx="559929" cy="8669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1" name="Line 25"/>
          <p:cNvSpPr>
            <a:spLocks noChangeShapeType="1"/>
          </p:cNvSpPr>
          <p:nvPr/>
        </p:nvSpPr>
        <p:spPr bwMode="auto">
          <a:xfrm rot="10800000" flipH="1">
            <a:off x="9085298" y="5794456"/>
            <a:ext cx="559929" cy="8669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2" name="Line 26"/>
          <p:cNvSpPr>
            <a:spLocks noChangeShapeType="1"/>
          </p:cNvSpPr>
          <p:nvPr/>
        </p:nvSpPr>
        <p:spPr bwMode="auto">
          <a:xfrm rot="10800000">
            <a:off x="10512213" y="5794456"/>
            <a:ext cx="577991" cy="8669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3" name="Line 27"/>
          <p:cNvSpPr>
            <a:spLocks noChangeShapeType="1"/>
          </p:cNvSpPr>
          <p:nvPr/>
        </p:nvSpPr>
        <p:spPr bwMode="auto">
          <a:xfrm rot="10800000">
            <a:off x="11787859" y="5794456"/>
            <a:ext cx="577991" cy="86698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4" name="Text Box 32"/>
          <p:cNvSpPr txBox="1">
            <a:spLocks noChangeArrowheads="1"/>
          </p:cNvSpPr>
          <p:nvPr/>
        </p:nvSpPr>
        <p:spPr bwMode="auto">
          <a:xfrm>
            <a:off x="4192969" y="6099257"/>
            <a:ext cx="730969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4</a:t>
            </a:r>
          </a:p>
        </p:txBody>
      </p:sp>
      <p:sp>
        <p:nvSpPr>
          <p:cNvPr id="75" name="Text Box 34"/>
          <p:cNvSpPr txBox="1">
            <a:spLocks noChangeArrowheads="1"/>
          </p:cNvSpPr>
          <p:nvPr/>
        </p:nvSpPr>
        <p:spPr bwMode="auto">
          <a:xfrm>
            <a:off x="643429" y="6099257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3</a:t>
            </a:r>
          </a:p>
        </p:txBody>
      </p:sp>
      <p:sp>
        <p:nvSpPr>
          <p:cNvPr id="76" name="Text Box 35"/>
          <p:cNvSpPr txBox="1">
            <a:spLocks noChangeArrowheads="1"/>
          </p:cNvSpPr>
          <p:nvPr/>
        </p:nvSpPr>
        <p:spPr bwMode="auto">
          <a:xfrm>
            <a:off x="976236" y="7724857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1</a:t>
            </a:r>
          </a:p>
        </p:txBody>
      </p:sp>
      <p:sp>
        <p:nvSpPr>
          <p:cNvPr id="77" name="Text Box 36"/>
          <p:cNvSpPr txBox="1">
            <a:spLocks noChangeArrowheads="1"/>
          </p:cNvSpPr>
          <p:nvPr/>
        </p:nvSpPr>
        <p:spPr bwMode="auto">
          <a:xfrm>
            <a:off x="4338067" y="7724857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2</a:t>
            </a:r>
          </a:p>
        </p:txBody>
      </p:sp>
      <p:sp>
        <p:nvSpPr>
          <p:cNvPr id="78" name="Line 41"/>
          <p:cNvSpPr>
            <a:spLocks noChangeShapeType="1"/>
          </p:cNvSpPr>
          <p:nvPr/>
        </p:nvSpPr>
        <p:spPr bwMode="auto">
          <a:xfrm rot="10800000" flipH="1">
            <a:off x="2210365" y="7022687"/>
            <a:ext cx="18062" cy="102954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9" name="Line 42"/>
          <p:cNvSpPr>
            <a:spLocks noChangeShapeType="1"/>
          </p:cNvSpPr>
          <p:nvPr/>
        </p:nvSpPr>
        <p:spPr bwMode="auto">
          <a:xfrm rot="10800000" flipH="1">
            <a:off x="5791201" y="7004625"/>
            <a:ext cx="18062" cy="1029547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80" name="Text Box 43"/>
          <p:cNvSpPr txBox="1">
            <a:spLocks noChangeArrowheads="1"/>
          </p:cNvSpPr>
          <p:nvPr/>
        </p:nvSpPr>
        <p:spPr bwMode="auto">
          <a:xfrm>
            <a:off x="2586032" y="4764909"/>
            <a:ext cx="729767" cy="319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</a:tabLst>
            </a:pPr>
            <a:r>
              <a:rPr lang="en-US" sz="2400" dirty="0">
                <a:solidFill>
                  <a:schemeClr val="tx2"/>
                </a:solidFill>
                <a:latin typeface="Book Antiqua"/>
              </a:rPr>
              <a:t>Site 5</a:t>
            </a:r>
          </a:p>
        </p:txBody>
      </p:sp>
      <p:sp>
        <p:nvSpPr>
          <p:cNvPr id="81" name="Line 44"/>
          <p:cNvSpPr>
            <a:spLocks noChangeShapeType="1"/>
          </p:cNvSpPr>
          <p:nvPr/>
        </p:nvSpPr>
        <p:spPr bwMode="auto">
          <a:xfrm rot="10800000" flipH="1">
            <a:off x="2167468" y="5686083"/>
            <a:ext cx="1415627" cy="75861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82" name="Line 45"/>
          <p:cNvSpPr>
            <a:spLocks noChangeShapeType="1"/>
          </p:cNvSpPr>
          <p:nvPr/>
        </p:nvSpPr>
        <p:spPr bwMode="auto">
          <a:xfrm rot="10800000">
            <a:off x="3901440" y="5686083"/>
            <a:ext cx="1842347" cy="758613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lg" len="lg"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84" name="Freeform 29"/>
          <p:cNvSpPr>
            <a:spLocks/>
          </p:cNvSpPr>
          <p:nvPr/>
        </p:nvSpPr>
        <p:spPr bwMode="auto">
          <a:xfrm>
            <a:off x="541867" y="6459049"/>
            <a:ext cx="3307645" cy="57799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0" y="0"/>
              </a:cxn>
              <a:cxn ang="0">
                <a:pos x="10000" y="10000"/>
              </a:cxn>
              <a:cxn ang="0">
                <a:pos x="0" y="10000"/>
              </a:cxn>
              <a:cxn ang="0">
                <a:pos x="0" y="0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r>
              <a:rPr lang="en-US" sz="2000" dirty="0">
                <a:solidFill>
                  <a:schemeClr val="tx2"/>
                </a:solidFill>
                <a:latin typeface="Arial"/>
              </a:rPr>
              <a:t>EMP</a:t>
            </a:r>
            <a:r>
              <a:rPr lang="en-US" sz="2000" baseline="30000" dirty="0">
                <a:solidFill>
                  <a:schemeClr val="tx2"/>
                </a:solidFill>
                <a:latin typeface="Arial"/>
              </a:rPr>
              <a:t>’</a:t>
            </a:r>
            <a:r>
              <a:rPr lang="en-US" sz="2000" baseline="-25000" dirty="0">
                <a:solidFill>
                  <a:schemeClr val="tx2"/>
                </a:solidFill>
                <a:latin typeface="Arial"/>
              </a:rPr>
              <a:t>1</a:t>
            </a:r>
            <a:r>
              <a:rPr lang="en-US" sz="2000" dirty="0">
                <a:solidFill>
                  <a:schemeClr val="tx2"/>
                </a:solidFill>
                <a:latin typeface="Arial"/>
              </a:rPr>
              <a:t>=EMP</a:t>
            </a:r>
            <a:r>
              <a:rPr lang="en-US" sz="2000" baseline="-25000" dirty="0">
                <a:solidFill>
                  <a:schemeClr val="tx2"/>
                </a:solidFill>
                <a:latin typeface="Arial"/>
              </a:rPr>
              <a:t>1</a:t>
            </a:r>
            <a:r>
              <a:rPr lang="en-US" sz="2000" dirty="0">
                <a:solidFill>
                  <a:schemeClr val="tx2"/>
                </a:solidFill>
                <a:latin typeface="Arial"/>
              </a:rPr>
              <a:t> </a:t>
            </a:r>
            <a:r>
              <a:rPr lang="en-US" sz="2000" dirty="0">
                <a:latin typeface="Book Antiqua"/>
              </a:rPr>
              <a:t>⋈</a:t>
            </a:r>
            <a:r>
              <a:rPr lang="en-US" sz="2000" baseline="-25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ENO</a:t>
            </a:r>
            <a:r>
              <a:rPr lang="en-US" sz="2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  ASG</a:t>
            </a:r>
            <a:r>
              <a:rPr lang="en-US" sz="2000" baseline="30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’</a:t>
            </a:r>
            <a:r>
              <a:rPr lang="en-US" sz="2000" baseline="-25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1</a:t>
            </a:r>
            <a:endParaRPr lang="en-US" sz="2000" baseline="-250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88" name="Freeform 28"/>
          <p:cNvSpPr>
            <a:spLocks/>
          </p:cNvSpPr>
          <p:nvPr/>
        </p:nvSpPr>
        <p:spPr bwMode="auto">
          <a:xfrm>
            <a:off x="2384213" y="5117123"/>
            <a:ext cx="2709333" cy="559929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0" y="0"/>
              </a:cxn>
              <a:cxn ang="0">
                <a:pos x="10000" y="10000"/>
              </a:cxn>
              <a:cxn ang="0">
                <a:pos x="0" y="10000"/>
              </a:cxn>
              <a:cxn ang="0">
                <a:pos x="0" y="0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graphicFrame>
        <p:nvGraphicFramePr>
          <p:cNvPr id="89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100277"/>
              </p:ext>
            </p:extLst>
          </p:nvPr>
        </p:nvGraphicFramePr>
        <p:xfrm>
          <a:off x="2438400" y="5191631"/>
          <a:ext cx="2600960" cy="410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387" imgH="228738" progId="Equation.3">
                  <p:embed/>
                </p:oleObj>
              </mc:Choice>
              <mc:Fallback>
                <p:oleObj name="Equation" r:id="rId3" imgW="1447387" imgH="228738" progId="Equation.3">
                  <p:embed/>
                  <p:pic>
                    <p:nvPicPr>
                      <p:cNvPr id="0" name="Picture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91631"/>
                        <a:ext cx="2600960" cy="4109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5" name="Group 72"/>
          <p:cNvGrpSpPr>
            <a:grpSpLocks/>
          </p:cNvGrpSpPr>
          <p:nvPr/>
        </p:nvGrpSpPr>
        <p:grpSpPr bwMode="auto">
          <a:xfrm>
            <a:off x="812801" y="8061265"/>
            <a:ext cx="2797387" cy="559929"/>
            <a:chOff x="360" y="3308"/>
            <a:chExt cx="1239" cy="248"/>
          </a:xfrm>
        </p:grpSpPr>
        <p:sp>
          <p:nvSpPr>
            <p:cNvPr id="96" name="Freeform 30"/>
            <p:cNvSpPr>
              <a:spLocks/>
            </p:cNvSpPr>
            <p:nvPr/>
          </p:nvSpPr>
          <p:spPr bwMode="auto">
            <a:xfrm>
              <a:off x="360" y="3308"/>
              <a:ext cx="1239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0" y="0"/>
                </a:cxn>
                <a:cxn ang="0">
                  <a:pos x="10000" y="10000"/>
                </a:cxn>
                <a:cxn ang="0">
                  <a:pos x="0" y="10000"/>
                </a:cxn>
                <a:cxn ang="0">
                  <a:pos x="0" y="0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  <a:latin typeface="Arial"/>
              </a:endParaRPr>
            </a:p>
          </p:txBody>
        </p:sp>
        <p:graphicFrame>
          <p:nvGraphicFramePr>
            <p:cNvPr id="97" name="Object 6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2919768"/>
                </p:ext>
              </p:extLst>
            </p:nvPr>
          </p:nvGraphicFramePr>
          <p:xfrm>
            <a:off x="404" y="3344"/>
            <a:ext cx="1150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50960" imgH="253800" progId="Equation.3">
                    <p:embed/>
                  </p:oleObj>
                </mc:Choice>
                <mc:Fallback>
                  <p:oleObj name="Equation" r:id="rId5" imgW="1650960" imgH="253800" progId="Equation.3">
                    <p:embed/>
                    <p:pic>
                      <p:nvPicPr>
                        <p:cNvPr id="0" name="Picture 1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" y="3344"/>
                          <a:ext cx="1150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8" name="Group 71"/>
          <p:cNvGrpSpPr>
            <a:grpSpLocks/>
          </p:cNvGrpSpPr>
          <p:nvPr/>
        </p:nvGrpSpPr>
        <p:grpSpPr bwMode="auto">
          <a:xfrm>
            <a:off x="4389121" y="8061286"/>
            <a:ext cx="2815450" cy="559930"/>
            <a:chOff x="1916" y="3360"/>
            <a:chExt cx="1247" cy="248"/>
          </a:xfrm>
        </p:grpSpPr>
        <p:sp>
          <p:nvSpPr>
            <p:cNvPr id="99" name="Freeform 69"/>
            <p:cNvSpPr>
              <a:spLocks/>
            </p:cNvSpPr>
            <p:nvPr/>
          </p:nvSpPr>
          <p:spPr bwMode="auto">
            <a:xfrm>
              <a:off x="1920" y="3360"/>
              <a:ext cx="1239" cy="2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0" y="0"/>
                </a:cxn>
                <a:cxn ang="0">
                  <a:pos x="10000" y="10000"/>
                </a:cxn>
                <a:cxn ang="0">
                  <a:pos x="0" y="10000"/>
                </a:cxn>
                <a:cxn ang="0">
                  <a:pos x="0" y="0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2"/>
                </a:solidFill>
                <a:latin typeface="Arial"/>
              </a:endParaRPr>
            </a:p>
          </p:txBody>
        </p:sp>
        <p:graphicFrame>
          <p:nvGraphicFramePr>
            <p:cNvPr id="100" name="Object 70"/>
            <p:cNvGraphicFramePr>
              <a:graphicFrameLocks noChangeAspect="1"/>
            </p:cNvGraphicFramePr>
            <p:nvPr/>
          </p:nvGraphicFramePr>
          <p:xfrm>
            <a:off x="1916" y="3396"/>
            <a:ext cx="1247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790218" imgH="254092" progId="Equation.3">
                    <p:embed/>
                  </p:oleObj>
                </mc:Choice>
                <mc:Fallback>
                  <p:oleObj name="Equation" r:id="rId7" imgW="1790218" imgH="254092" progId="Equation.3">
                    <p:embed/>
                    <p:pic>
                      <p:nvPicPr>
                        <p:cNvPr id="0" name="Picture 1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6" y="3396"/>
                          <a:ext cx="1247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1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205510"/>
              </p:ext>
            </p:extLst>
          </p:nvPr>
        </p:nvGraphicFramePr>
        <p:xfrm>
          <a:off x="2275840" y="7311683"/>
          <a:ext cx="65024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05972" imgH="228600" progId="Equation.3">
                  <p:embed/>
                </p:oleObj>
              </mc:Choice>
              <mc:Fallback>
                <p:oleObj name="Equation" r:id="rId9" imgW="405972" imgH="228600" progId="Equation.3">
                  <p:embed/>
                  <p:pic>
                    <p:nvPicPr>
                      <p:cNvPr id="0" name="Picture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5840" y="7311683"/>
                        <a:ext cx="65024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472273"/>
              </p:ext>
            </p:extLst>
          </p:nvPr>
        </p:nvGraphicFramePr>
        <p:xfrm>
          <a:off x="5940215" y="7311683"/>
          <a:ext cx="69088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31570" imgH="228738" progId="Equation.3">
                  <p:embed/>
                </p:oleObj>
              </mc:Choice>
              <mc:Fallback>
                <p:oleObj name="Equation" r:id="rId11" imgW="431570" imgH="228738" progId="Equation.3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215" y="7311683"/>
                        <a:ext cx="69088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316419"/>
              </p:ext>
            </p:extLst>
          </p:nvPr>
        </p:nvGraphicFramePr>
        <p:xfrm>
          <a:off x="2068125" y="5794457"/>
          <a:ext cx="629921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93302" imgH="228600" progId="Equation.3">
                  <p:embed/>
                </p:oleObj>
              </mc:Choice>
              <mc:Fallback>
                <p:oleObj name="Equation" r:id="rId13" imgW="393302" imgH="228600" progId="Equation.3">
                  <p:embed/>
                  <p:pic>
                    <p:nvPicPr>
                      <p:cNvPr id="0" name="Picture 1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125" y="5794457"/>
                        <a:ext cx="629921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92656"/>
              </p:ext>
            </p:extLst>
          </p:nvPr>
        </p:nvGraphicFramePr>
        <p:xfrm>
          <a:off x="4876800" y="5794457"/>
          <a:ext cx="650240" cy="36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05972" imgH="228600" progId="Equation.3">
                  <p:embed/>
                </p:oleObj>
              </mc:Choice>
              <mc:Fallback>
                <p:oleObj name="Equation" r:id="rId15" imgW="405972" imgH="228600" progId="Equation.3">
                  <p:embed/>
                  <p:pic>
                    <p:nvPicPr>
                      <p:cNvPr id="0" name="Picture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794457"/>
                        <a:ext cx="650240" cy="36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Freeform 13"/>
          <p:cNvSpPr>
            <a:spLocks/>
          </p:cNvSpPr>
          <p:nvPr/>
        </p:nvSpPr>
        <p:spPr bwMode="auto">
          <a:xfrm>
            <a:off x="7044267" y="5117123"/>
            <a:ext cx="5908605" cy="67733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0" y="0"/>
              </a:cxn>
              <a:cxn ang="0">
                <a:pos x="10000" y="10000"/>
              </a:cxn>
              <a:cxn ang="0">
                <a:pos x="0" y="10000"/>
              </a:cxn>
              <a:cxn ang="0">
                <a:pos x="0" y="0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9" name="Text Box 81"/>
          <p:cNvSpPr txBox="1">
            <a:spLocks noChangeArrowheads="1"/>
          </p:cNvSpPr>
          <p:nvPr/>
        </p:nvSpPr>
        <p:spPr bwMode="auto">
          <a:xfrm>
            <a:off x="7078464" y="5261008"/>
            <a:ext cx="5743787" cy="304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>
              <a:lnSpc>
                <a:spcPts val="2418"/>
              </a:lnSpc>
              <a:tabLst>
                <a:tab pos="0" algn="l"/>
                <a:tab pos="1300460" algn="l"/>
                <a:tab pos="2600919" algn="l"/>
              </a:tabLst>
            </a:pPr>
            <a:r>
              <a:rPr lang="en-US" sz="1700" dirty="0">
                <a:solidFill>
                  <a:schemeClr val="tx2"/>
                </a:solidFill>
                <a:latin typeface="Arial" charset="0"/>
              </a:rPr>
              <a:t>result= (EMP</a:t>
            </a:r>
            <a:r>
              <a:rPr lang="en-US" sz="1700" baseline="-25000" dirty="0">
                <a:solidFill>
                  <a:schemeClr val="tx2"/>
                </a:solidFill>
                <a:latin typeface="Arial" charset="0"/>
              </a:rPr>
              <a:t>1</a:t>
            </a:r>
            <a:r>
              <a:rPr lang="en-US" sz="1700" dirty="0">
                <a:solidFill>
                  <a:schemeClr val="tx2"/>
                </a:solidFill>
                <a:latin typeface="Symbol" charset="2"/>
                <a:cs typeface="Symbol" charset="2"/>
                <a:sym typeface="Symbol"/>
              </a:rPr>
              <a:t> × </a:t>
            </a:r>
            <a:r>
              <a:rPr lang="en-US" sz="1700" dirty="0">
                <a:solidFill>
                  <a:schemeClr val="tx2"/>
                </a:solidFill>
                <a:latin typeface="Arial" charset="0"/>
                <a:sym typeface="Symbol" charset="2"/>
              </a:rPr>
              <a:t>EMP</a:t>
            </a:r>
            <a:r>
              <a:rPr lang="en-US" sz="1700" baseline="-25000" dirty="0">
                <a:solidFill>
                  <a:schemeClr val="tx2"/>
                </a:solidFill>
                <a:latin typeface="Arial" charset="0"/>
                <a:sym typeface="Symbol" charset="2"/>
              </a:rPr>
              <a:t>2</a:t>
            </a:r>
            <a:r>
              <a:rPr lang="en-US" sz="1700" dirty="0">
                <a:solidFill>
                  <a:schemeClr val="tx2"/>
                </a:solidFill>
                <a:latin typeface="Arial" charset="0"/>
                <a:sym typeface="Symbol" charset="2"/>
              </a:rPr>
              <a:t>)</a:t>
            </a:r>
            <a:r>
              <a:rPr lang="en-US" sz="1800" dirty="0">
                <a:latin typeface="Book Antiqua"/>
              </a:rPr>
              <a:t>⋈</a:t>
            </a:r>
            <a:r>
              <a:rPr lang="en-US" sz="1700" baseline="-25000" dirty="0" err="1">
                <a:solidFill>
                  <a:schemeClr val="tx2"/>
                </a:solidFill>
                <a:latin typeface="Arial" charset="0"/>
                <a:sym typeface="Symbol" charset="2"/>
              </a:rPr>
              <a:t>ENO</a:t>
            </a:r>
            <a:r>
              <a:rPr lang="en-US" sz="1700" dirty="0" err="1">
                <a:solidFill>
                  <a:schemeClr val="tx2"/>
                </a:solidFill>
                <a:latin typeface="Arial" charset="0"/>
              </a:rPr>
              <a:t>σ</a:t>
            </a:r>
            <a:r>
              <a:rPr lang="en-US" sz="1700" baseline="-25000" dirty="0" err="1">
                <a:solidFill>
                  <a:schemeClr val="tx2"/>
                </a:solidFill>
                <a:latin typeface="Arial" charset="0"/>
              </a:rPr>
              <a:t>RESP</a:t>
            </a:r>
            <a:r>
              <a:rPr lang="en-US" sz="1700" baseline="-25000" dirty="0">
                <a:solidFill>
                  <a:schemeClr val="tx2"/>
                </a:solidFill>
                <a:latin typeface="Arial" charset="0"/>
              </a:rPr>
              <a:t>=“Manager”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(ASG</a:t>
            </a:r>
            <a:r>
              <a:rPr lang="en-US" sz="1700" baseline="-25000" dirty="0">
                <a:solidFill>
                  <a:schemeClr val="tx2"/>
                </a:solidFill>
                <a:latin typeface="Arial" charset="0"/>
              </a:rPr>
              <a:t>1</a:t>
            </a:r>
            <a:r>
              <a:rPr lang="en-US" sz="1800" dirty="0">
                <a:solidFill>
                  <a:schemeClr val="tx2"/>
                </a:solidFill>
                <a:latin typeface="Book Antiqua"/>
              </a:rPr>
              <a:t>×</a:t>
            </a:r>
            <a:r>
              <a:rPr lang="en-US" sz="1700" dirty="0">
                <a:solidFill>
                  <a:schemeClr val="tx2"/>
                </a:solidFill>
                <a:latin typeface="Symbol" charset="2"/>
                <a:cs typeface="Symbol" charset="2"/>
                <a:sym typeface="Symbol"/>
              </a:rPr>
              <a:t> </a:t>
            </a:r>
            <a:r>
              <a:rPr lang="en-US" sz="1700" dirty="0">
                <a:solidFill>
                  <a:schemeClr val="tx2"/>
                </a:solidFill>
                <a:latin typeface="Arial" charset="0"/>
                <a:sym typeface="Symbol" charset="2"/>
              </a:rPr>
              <a:t>ASG</a:t>
            </a:r>
            <a:r>
              <a:rPr lang="en-US" sz="1700" baseline="-25000" dirty="0">
                <a:solidFill>
                  <a:schemeClr val="tx2"/>
                </a:solidFill>
                <a:latin typeface="Arial" charset="0"/>
                <a:sym typeface="Symbol" charset="2"/>
              </a:rPr>
              <a:t>2</a:t>
            </a:r>
            <a:r>
              <a:rPr lang="en-US" sz="1700" dirty="0">
                <a:solidFill>
                  <a:schemeClr val="tx2"/>
                </a:solidFill>
                <a:latin typeface="Arial" charset="0"/>
              </a:rPr>
              <a:t>)</a:t>
            </a:r>
          </a:p>
        </p:txBody>
      </p:sp>
      <p:sp>
        <p:nvSpPr>
          <p:cNvPr id="105" name="Freeform 29"/>
          <p:cNvSpPr>
            <a:spLocks/>
          </p:cNvSpPr>
          <p:nvPr/>
        </p:nvSpPr>
        <p:spPr bwMode="auto">
          <a:xfrm>
            <a:off x="4118187" y="6444696"/>
            <a:ext cx="3307645" cy="57799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0" y="0"/>
              </a:cxn>
              <a:cxn ang="0">
                <a:pos x="10000" y="10000"/>
              </a:cxn>
              <a:cxn ang="0">
                <a:pos x="0" y="10000"/>
              </a:cxn>
              <a:cxn ang="0">
                <a:pos x="0" y="0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lIns="130046" tIns="65023" rIns="130046" bIns="65023">
            <a:prstTxWarp prst="textNoShape">
              <a:avLst/>
            </a:prstTxWarp>
          </a:bodyPr>
          <a:lstStyle/>
          <a:p>
            <a:r>
              <a:rPr lang="en-US" sz="2000" dirty="0">
                <a:solidFill>
                  <a:schemeClr val="tx2"/>
                </a:solidFill>
                <a:latin typeface="Arial"/>
              </a:rPr>
              <a:t>EMP</a:t>
            </a:r>
            <a:r>
              <a:rPr lang="en-US" sz="2000" baseline="30000" dirty="0">
                <a:solidFill>
                  <a:schemeClr val="tx2"/>
                </a:solidFill>
                <a:latin typeface="Arial"/>
              </a:rPr>
              <a:t>’</a:t>
            </a:r>
            <a:r>
              <a:rPr lang="en-US" sz="2000" baseline="-25000" dirty="0">
                <a:solidFill>
                  <a:schemeClr val="tx2"/>
                </a:solidFill>
                <a:latin typeface="Arial"/>
              </a:rPr>
              <a:t>2</a:t>
            </a:r>
            <a:r>
              <a:rPr lang="en-US" sz="2000" dirty="0">
                <a:solidFill>
                  <a:schemeClr val="tx2"/>
                </a:solidFill>
                <a:latin typeface="Arial"/>
              </a:rPr>
              <a:t>=EMP</a:t>
            </a:r>
            <a:r>
              <a:rPr lang="en-US" sz="2000" baseline="-25000" dirty="0">
                <a:solidFill>
                  <a:schemeClr val="tx2"/>
                </a:solidFill>
                <a:latin typeface="Arial"/>
              </a:rPr>
              <a:t>2</a:t>
            </a:r>
            <a:r>
              <a:rPr lang="en-US" sz="2000" dirty="0">
                <a:solidFill>
                  <a:schemeClr val="tx2"/>
                </a:solidFill>
                <a:latin typeface="Arial"/>
              </a:rPr>
              <a:t> </a:t>
            </a:r>
            <a:r>
              <a:rPr lang="en-US" sz="2000" dirty="0">
                <a:latin typeface="Book Antiqua"/>
              </a:rPr>
              <a:t>⋈</a:t>
            </a:r>
            <a:r>
              <a:rPr lang="en-US" sz="2000" baseline="-25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ENO</a:t>
            </a:r>
            <a:r>
              <a:rPr lang="en-US" sz="2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  ASG</a:t>
            </a:r>
            <a:r>
              <a:rPr lang="en-US" sz="2000" baseline="30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’</a:t>
            </a:r>
            <a:r>
              <a:rPr lang="en-US" sz="2000" baseline="-25000" dirty="0">
                <a:solidFill>
                  <a:schemeClr val="tx2"/>
                </a:solidFill>
                <a:latin typeface="Arial"/>
                <a:ea typeface="MS PGothic"/>
                <a:cs typeface="Arial"/>
              </a:rPr>
              <a:t>2</a:t>
            </a:r>
            <a:endParaRPr lang="en-US" sz="2000" baseline="-250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of Alternatives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284512"/>
            <a:ext cx="12293600" cy="7068120"/>
          </a:xfrm>
        </p:spPr>
        <p:txBody>
          <a:bodyPr/>
          <a:lstStyle/>
          <a:p>
            <a:r>
              <a:rPr lang="en-US" dirty="0"/>
              <a:t>Assume</a:t>
            </a:r>
          </a:p>
          <a:p>
            <a:pPr lvl="1"/>
            <a:r>
              <a:rPr lang="en-US" i="1" dirty="0">
                <a:ea typeface="ＭＳ Ｐゴシック" charset="-128"/>
              </a:rPr>
              <a:t>size</a:t>
            </a:r>
            <a:r>
              <a:rPr lang="en-US" dirty="0">
                <a:ea typeface="ＭＳ Ｐゴシック" charset="-128"/>
              </a:rPr>
              <a:t>(EMP) = 400, </a:t>
            </a:r>
            <a:r>
              <a:rPr lang="en-US" i="1" dirty="0">
                <a:ea typeface="ＭＳ Ｐゴシック" charset="-128"/>
              </a:rPr>
              <a:t>size</a:t>
            </a:r>
            <a:r>
              <a:rPr lang="en-US" dirty="0">
                <a:ea typeface="ＭＳ Ｐゴシック" charset="-128"/>
              </a:rPr>
              <a:t>(ASG) = 1000</a:t>
            </a:r>
          </a:p>
          <a:p>
            <a:pPr lvl="1"/>
            <a:r>
              <a:rPr lang="en-US" dirty="0">
                <a:ea typeface="ＭＳ Ｐゴシック" charset="-128"/>
              </a:rPr>
              <a:t>tuple access cost = 1 unit; tuple transfer cost = 10 units</a:t>
            </a:r>
          </a:p>
          <a:p>
            <a:pPr lvl="1"/>
            <a:r>
              <a:rPr lang="en-US" dirty="0">
                <a:ea typeface="ＭＳ Ｐゴシック" charset="-128"/>
              </a:rPr>
              <a:t>20 managers in ASG</a:t>
            </a:r>
          </a:p>
          <a:p>
            <a:r>
              <a:rPr lang="en-US" dirty="0">
                <a:ea typeface="ＭＳ Ｐゴシック" charset="-128"/>
              </a:rPr>
              <a:t>Strategy 1</a:t>
            </a:r>
          </a:p>
          <a:p>
            <a:pPr lvl="1"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produce ASG': (10+10)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access cost	20</a:t>
            </a:r>
          </a:p>
          <a:p>
            <a:pPr lvl="1">
              <a:spcBef>
                <a:spcPts val="0"/>
              </a:spcBef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transfer ASG' to the sites of EMP: (10+10)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transfer cost	200</a:t>
            </a:r>
          </a:p>
          <a:p>
            <a:pPr lvl="1">
              <a:spcBef>
                <a:spcPts val="0"/>
              </a:spcBef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produce EMP': (10+10)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access cost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>
                <a:ea typeface="ＭＳ Ｐゴシック" charset="-128"/>
              </a:rPr>
              <a:t>2	40</a:t>
            </a:r>
          </a:p>
          <a:p>
            <a:pPr lvl="1">
              <a:spcBef>
                <a:spcPts val="0"/>
              </a:spcBef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transfer EMP' to result site: (10+10)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transfer cost	</a:t>
            </a:r>
            <a:r>
              <a:rPr lang="en-US" sz="2400" u="sng" dirty="0">
                <a:ea typeface="ＭＳ Ｐゴシック" charset="-128"/>
              </a:rPr>
              <a:t>       200</a:t>
            </a:r>
          </a:p>
          <a:p>
            <a:pPr marL="1282700" lvl="3" indent="0">
              <a:buNone/>
              <a:tabLst>
                <a:tab pos="12022138" algn="r"/>
              </a:tabLst>
            </a:pPr>
            <a:r>
              <a:rPr lang="en-US" sz="2400" dirty="0">
                <a:solidFill>
                  <a:srgbClr val="FF0000"/>
                </a:solidFill>
                <a:ea typeface="ＭＳ Ｐゴシック" charset="-128"/>
              </a:rPr>
              <a:t>Total Cost	460</a:t>
            </a:r>
          </a:p>
          <a:p>
            <a:r>
              <a:rPr lang="en-US" dirty="0"/>
              <a:t>Strategy 2</a:t>
            </a:r>
          </a:p>
          <a:p>
            <a:pPr lvl="1"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transfer EMP to site 5: 400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transfer cost	4,000</a:t>
            </a:r>
          </a:p>
          <a:p>
            <a:pPr lvl="1">
              <a:spcBef>
                <a:spcPts val="0"/>
              </a:spcBef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transfer ASG to site 5: 1000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transfer cost	10,000</a:t>
            </a:r>
          </a:p>
          <a:p>
            <a:pPr lvl="1">
              <a:spcBef>
                <a:spcPts val="0"/>
              </a:spcBef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produce ASG': 1000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access cost	1,000</a:t>
            </a:r>
          </a:p>
          <a:p>
            <a:pPr lvl="1">
              <a:spcBef>
                <a:spcPts val="0"/>
              </a:spcBef>
              <a:tabLst>
                <a:tab pos="12022138" algn="r"/>
              </a:tabLst>
            </a:pPr>
            <a:r>
              <a:rPr lang="en-US" sz="2400" dirty="0">
                <a:ea typeface="ＭＳ Ｐゴシック" charset="-128"/>
              </a:rPr>
              <a:t>join EMP and ASG': 400</a:t>
            </a:r>
            <a:r>
              <a:rPr lang="en-US" sz="2400" dirty="0">
                <a:latin typeface="Symbol" charset="2"/>
                <a:ea typeface="ＭＳ Ｐゴシック" charset="-128"/>
                <a:sym typeface="Symbol"/>
              </a:rPr>
              <a:t>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>
                <a:ea typeface="ＭＳ Ｐゴシック" charset="-128"/>
              </a:rPr>
              <a:t>20</a:t>
            </a:r>
            <a:r>
              <a:rPr lang="en-US" sz="2400" dirty="0">
                <a:latin typeface="Symbol" charset="2"/>
                <a:ea typeface="ＭＳ Ｐゴシック" charset="-128"/>
                <a:sym typeface="Symbol"/>
              </a:rPr>
              <a:t> </a:t>
            </a:r>
            <a:r>
              <a:rPr lang="en-US" sz="2400" dirty="0">
                <a:ea typeface="ＭＳ Ｐゴシック" charset="-128"/>
                <a:sym typeface="Symbol"/>
              </a:rPr>
              <a:t> </a:t>
            </a:r>
            <a:r>
              <a:rPr lang="en-US" sz="2400" dirty="0" err="1">
                <a:ea typeface="ＭＳ Ｐゴシック" charset="-128"/>
              </a:rPr>
              <a:t>tuple</a:t>
            </a:r>
            <a:r>
              <a:rPr lang="en-US" sz="2400" dirty="0">
                <a:ea typeface="ＭＳ Ｐゴシック" charset="-128"/>
              </a:rPr>
              <a:t> access cost	</a:t>
            </a:r>
            <a:r>
              <a:rPr lang="en-US" sz="2400" u="sng" dirty="0">
                <a:ea typeface="ＭＳ Ｐゴシック" charset="-128"/>
              </a:rPr>
              <a:t>       8,000</a:t>
            </a:r>
          </a:p>
          <a:p>
            <a:pPr marL="1282700" lvl="3" indent="0">
              <a:buNone/>
              <a:tabLst>
                <a:tab pos="12022138" algn="r"/>
              </a:tabLst>
            </a:pPr>
            <a:r>
              <a:rPr lang="en-US" sz="2400" dirty="0">
                <a:solidFill>
                  <a:srgbClr val="FF0000"/>
                </a:solidFill>
                <a:ea typeface="ＭＳ Ｐゴシック" charset="-128"/>
              </a:rPr>
              <a:t>Total Cost	23,000</a:t>
            </a:r>
          </a:p>
        </p:txBody>
      </p:sp>
    </p:spTree>
    <p:extLst>
      <p:ext uri="{BB962C8B-B14F-4D97-AF65-F5344CB8AC3E}">
        <p14:creationId xmlns:p14="http://schemas.microsoft.com/office/powerpoint/2010/main" val="42781754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Query Optimization Objectives</a:t>
            </a:r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Minimize a cost function</a:t>
            </a:r>
          </a:p>
          <a:p>
            <a:pPr lvl="1">
              <a:spcBef>
                <a:spcPct val="25000"/>
              </a:spcBef>
              <a:buFont typeface="Century Schoolbook" charset="0"/>
              <a:buNone/>
            </a:pPr>
            <a:r>
              <a:rPr lang="en-US" dirty="0">
                <a:solidFill>
                  <a:schemeClr val="tx2"/>
                </a:solidFill>
              </a:rPr>
              <a:t>		I/O cost + CPU cost + communication cost</a:t>
            </a:r>
          </a:p>
          <a:p>
            <a:pPr marL="0" indent="0">
              <a:spcBef>
                <a:spcPct val="25000"/>
              </a:spcBef>
              <a:buNone/>
            </a:pPr>
            <a:r>
              <a:rPr lang="en-US" dirty="0">
                <a:solidFill>
                  <a:schemeClr val="tx2"/>
                </a:solidFill>
              </a:rPr>
              <a:t>These might have different weights in different distributed environments</a:t>
            </a:r>
          </a:p>
          <a:p>
            <a:pPr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Wide area networks </a:t>
            </a:r>
          </a:p>
          <a:p>
            <a:pPr lvl="1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communication cost may dominate or vary much</a:t>
            </a:r>
          </a:p>
          <a:p>
            <a:pPr lvl="2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bandwidth</a:t>
            </a:r>
          </a:p>
          <a:p>
            <a:pPr lvl="2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speed</a:t>
            </a:r>
          </a:p>
          <a:p>
            <a:pPr lvl="2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high protocol overhead</a:t>
            </a:r>
          </a:p>
          <a:p>
            <a:pPr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Local area networks</a:t>
            </a:r>
          </a:p>
          <a:p>
            <a:pPr lvl="1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communication cost not that dominant</a:t>
            </a:r>
          </a:p>
          <a:p>
            <a:pPr lvl="1">
              <a:spcBef>
                <a:spcPct val="25000"/>
              </a:spcBef>
            </a:pPr>
            <a:r>
              <a:rPr lang="en-US" dirty="0">
                <a:solidFill>
                  <a:schemeClr val="tx2"/>
                </a:solidFill>
              </a:rPr>
              <a:t>total cost function should be considered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6124">
              <a:spcAft>
                <a:spcPts val="18"/>
              </a:spcAft>
              <a:tabLst>
                <a:tab pos="0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0403677" algn="l"/>
              </a:tabLst>
            </a:pPr>
            <a:r>
              <a:rPr lang="en-US" dirty="0"/>
              <a:t>Query Optimization Issues – Optimization Granularity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487672" indent="-487672">
              <a:lnSpc>
                <a:spcPts val="4124"/>
              </a:lnSpc>
              <a:spcAft>
                <a:spcPts val="2418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</a:tabLst>
            </a:pPr>
            <a:r>
              <a:rPr lang="en-US" dirty="0">
                <a:solidFill>
                  <a:srgbClr val="0000D4"/>
                </a:solidFill>
              </a:rPr>
              <a:t>Single query at a time</a:t>
            </a:r>
          </a:p>
          <a:p>
            <a:pPr marL="1144676" lvl="1" indent="-494446">
              <a:lnSpc>
                <a:spcPts val="3413"/>
              </a:lnSpc>
              <a:spcAft>
                <a:spcPts val="1991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</a:tabLst>
            </a:pPr>
            <a:r>
              <a:rPr lang="en-US" sz="2800" dirty="0"/>
              <a:t>Cannot use common intermediate results</a:t>
            </a:r>
          </a:p>
          <a:p>
            <a:pPr marL="487672" indent="-487672">
              <a:lnSpc>
                <a:spcPts val="4124"/>
              </a:lnSpc>
              <a:spcAft>
                <a:spcPts val="2418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</a:tabLst>
            </a:pPr>
            <a:r>
              <a:rPr lang="en-US" dirty="0">
                <a:solidFill>
                  <a:srgbClr val="0000D4"/>
                </a:solidFill>
              </a:rPr>
              <a:t>Multiple queries at a time</a:t>
            </a:r>
          </a:p>
          <a:p>
            <a:pPr marL="1144676" lvl="1" indent="-494446">
              <a:lnSpc>
                <a:spcPts val="3413"/>
              </a:lnSpc>
              <a:spcAft>
                <a:spcPts val="1991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</a:tabLst>
            </a:pPr>
            <a:r>
              <a:rPr lang="en-US" sz="2800" dirty="0"/>
              <a:t>Efficient if many similar queries</a:t>
            </a:r>
          </a:p>
          <a:p>
            <a:pPr marL="1144676" lvl="1" indent="-494446">
              <a:lnSpc>
                <a:spcPts val="3413"/>
              </a:lnSpc>
              <a:spcAft>
                <a:spcPts val="18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</a:tabLst>
            </a:pPr>
            <a:r>
              <a:rPr lang="en-US" sz="2800" dirty="0"/>
              <a:t>Decision space is much larger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Issues – Optimization Timing</a:t>
            </a:r>
          </a:p>
        </p:txBody>
      </p:sp>
      <p:sp>
        <p:nvSpPr>
          <p:cNvPr id="19047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5000"/>
              </a:lnSpc>
              <a:spcBef>
                <a:spcPct val="5000"/>
              </a:spcBef>
            </a:pPr>
            <a:r>
              <a:rPr lang="en-US" dirty="0"/>
              <a:t>Static</a:t>
            </a:r>
          </a:p>
          <a:p>
            <a:pPr lvl="1">
              <a:lnSpc>
                <a:spcPct val="95000"/>
              </a:lnSpc>
              <a:spcBef>
                <a:spcPct val="5000"/>
              </a:spcBef>
            </a:pPr>
            <a:r>
              <a:rPr lang="en-US" sz="2800" dirty="0"/>
              <a:t>Compilation </a:t>
            </a:r>
            <a:r>
              <a:rPr lang="en-US" sz="2800" dirty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2800" dirty="0"/>
              <a:t> optimize prior to the execution</a:t>
            </a:r>
          </a:p>
          <a:p>
            <a:pPr lvl="1">
              <a:lnSpc>
                <a:spcPct val="95000"/>
              </a:lnSpc>
              <a:spcBef>
                <a:spcPct val="5000"/>
              </a:spcBef>
            </a:pPr>
            <a:r>
              <a:rPr lang="en-US" sz="2800" dirty="0"/>
              <a:t>Difficult to estimate the size of the intermediate results</a:t>
            </a:r>
            <a:r>
              <a:rPr lang="en-US" sz="2800" dirty="0">
                <a:latin typeface="Symbol" charset="2"/>
                <a:sym typeface="Symbol" charset="2"/>
              </a:rPr>
              <a:t> </a:t>
            </a:r>
            <a:r>
              <a:rPr lang="en-US" sz="2800" dirty="0"/>
              <a:t>error propagation</a:t>
            </a:r>
          </a:p>
          <a:p>
            <a:pPr>
              <a:lnSpc>
                <a:spcPct val="95000"/>
              </a:lnSpc>
              <a:spcBef>
                <a:spcPct val="5000"/>
              </a:spcBef>
            </a:pPr>
            <a:r>
              <a:rPr lang="en-US" dirty="0"/>
              <a:t>Dynamic</a:t>
            </a:r>
          </a:p>
          <a:p>
            <a:pPr lvl="1">
              <a:lnSpc>
                <a:spcPct val="95000"/>
              </a:lnSpc>
              <a:spcBef>
                <a:spcPct val="5000"/>
              </a:spcBef>
            </a:pPr>
            <a:r>
              <a:rPr lang="en-US" sz="2800" dirty="0"/>
              <a:t>Run time optimization</a:t>
            </a:r>
          </a:p>
          <a:p>
            <a:pPr lvl="1">
              <a:lnSpc>
                <a:spcPct val="95000"/>
              </a:lnSpc>
              <a:spcBef>
                <a:spcPct val="5000"/>
              </a:spcBef>
            </a:pPr>
            <a:r>
              <a:rPr lang="en-US" sz="2800" dirty="0"/>
              <a:t>Exact information on the intermediate relation sizes</a:t>
            </a:r>
          </a:p>
          <a:p>
            <a:pPr>
              <a:lnSpc>
                <a:spcPct val="95000"/>
              </a:lnSpc>
              <a:spcBef>
                <a:spcPct val="5000"/>
              </a:spcBef>
            </a:pPr>
            <a:r>
              <a:rPr lang="en-US" dirty="0"/>
              <a:t>Hybrid</a:t>
            </a:r>
          </a:p>
          <a:p>
            <a:pPr lvl="1">
              <a:lnSpc>
                <a:spcPct val="95000"/>
              </a:lnSpc>
              <a:spcBef>
                <a:spcPct val="5000"/>
              </a:spcBef>
            </a:pPr>
            <a:r>
              <a:rPr lang="en-US" sz="2800" dirty="0"/>
              <a:t>Compile using a static algorithm</a:t>
            </a:r>
          </a:p>
          <a:p>
            <a:pPr lvl="1">
              <a:lnSpc>
                <a:spcPct val="95000"/>
              </a:lnSpc>
              <a:spcBef>
                <a:spcPct val="5000"/>
              </a:spcBef>
            </a:pPr>
            <a:r>
              <a:rPr lang="en-US" sz="2800" dirty="0"/>
              <a:t>If the error in estimate sizes &gt; threshold, </a:t>
            </a:r>
            <a:r>
              <a:rPr lang="en-US" sz="2800" dirty="0" err="1"/>
              <a:t>reoptimize</a:t>
            </a:r>
            <a:r>
              <a:rPr lang="en-US" sz="2800" dirty="0"/>
              <a:t> at run time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Issues – Statistics</a:t>
            </a:r>
          </a:p>
        </p:txBody>
      </p:sp>
      <p:sp>
        <p:nvSpPr>
          <p:cNvPr id="19149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</a:t>
            </a:r>
          </a:p>
          <a:p>
            <a:pPr lvl="1"/>
            <a:r>
              <a:rPr lang="en-US" sz="2800" dirty="0"/>
              <a:t>Cardinality</a:t>
            </a:r>
          </a:p>
          <a:p>
            <a:pPr lvl="1"/>
            <a:r>
              <a:rPr lang="en-US" sz="2800" dirty="0"/>
              <a:t>Size of a </a:t>
            </a:r>
            <a:r>
              <a:rPr lang="en-US" sz="2800" dirty="0" err="1"/>
              <a:t>tuple</a:t>
            </a:r>
            <a:endParaRPr lang="en-US" sz="2800" dirty="0"/>
          </a:p>
          <a:p>
            <a:pPr lvl="1"/>
            <a:r>
              <a:rPr lang="en-US" sz="2800" dirty="0"/>
              <a:t>Fraction of tuples participating in a join with another relation</a:t>
            </a:r>
          </a:p>
          <a:p>
            <a:r>
              <a:rPr lang="en-US" dirty="0"/>
              <a:t>Attribute</a:t>
            </a:r>
          </a:p>
          <a:p>
            <a:pPr lvl="1"/>
            <a:r>
              <a:rPr lang="en-US" sz="2800" dirty="0"/>
              <a:t>Cardinality of domain</a:t>
            </a:r>
          </a:p>
          <a:p>
            <a:r>
              <a:rPr lang="en-US" dirty="0"/>
              <a:t>Common assumptions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Independence </a:t>
            </a:r>
            <a:r>
              <a:rPr lang="en-US" sz="2800" dirty="0"/>
              <a:t>between different attribute values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Uniform distribution </a:t>
            </a:r>
            <a:r>
              <a:rPr lang="en-US" sz="2800" dirty="0"/>
              <a:t>of attribute values within their domain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Optimization Issues – Decision Sites</a:t>
            </a:r>
          </a:p>
        </p:txBody>
      </p:sp>
      <p:sp>
        <p:nvSpPr>
          <p:cNvPr id="19251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Centralized</a:t>
            </a:r>
          </a:p>
          <a:p>
            <a:pPr lvl="1"/>
            <a:r>
              <a:rPr lang="en-US" dirty="0"/>
              <a:t>Single site determines the “best” schedule</a:t>
            </a:r>
          </a:p>
          <a:p>
            <a:pPr lvl="1"/>
            <a:r>
              <a:rPr lang="en-US" dirty="0"/>
              <a:t>Simple</a:t>
            </a:r>
          </a:p>
          <a:p>
            <a:pPr lvl="1"/>
            <a:r>
              <a:rPr lang="en-US" dirty="0"/>
              <a:t>Need knowledge about the entire distributed database</a:t>
            </a:r>
          </a:p>
          <a:p>
            <a:r>
              <a:rPr lang="en-US" dirty="0"/>
              <a:t>Distributed</a:t>
            </a:r>
          </a:p>
          <a:p>
            <a:pPr lvl="1"/>
            <a:r>
              <a:rPr lang="en-US" dirty="0"/>
              <a:t>Cooperation among sites to determine the schedule</a:t>
            </a:r>
          </a:p>
          <a:p>
            <a:pPr lvl="1"/>
            <a:r>
              <a:rPr lang="en-US" dirty="0"/>
              <a:t>Need only local information</a:t>
            </a:r>
          </a:p>
          <a:p>
            <a:pPr lvl="1"/>
            <a:r>
              <a:rPr lang="en-US" dirty="0"/>
              <a:t>Cost of cooperation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Aft>
                <a:spcPts val="18"/>
              </a:spcAft>
            </a:pPr>
            <a:r>
              <a:rPr lang="en-US" dirty="0"/>
              <a:t>Query Optimization Issues – Network Topology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487672" indent="-487672">
              <a:lnSpc>
                <a:spcPts val="3271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>
                <a:solidFill>
                  <a:srgbClr val="0000D4"/>
                </a:solidFill>
              </a:rPr>
              <a:t>Wide area networks </a:t>
            </a:r>
            <a:r>
              <a:rPr lang="en-US" dirty="0"/>
              <a:t>(WAN) – point-to-point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Characteristics</a:t>
            </a:r>
          </a:p>
          <a:p>
            <a:pPr marL="1788132" lvl="2" indent="-487672">
              <a:lnSpc>
                <a:spcPts val="2418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Low bandwidth</a:t>
            </a:r>
          </a:p>
          <a:p>
            <a:pPr marL="1788132" lvl="2" indent="-487672">
              <a:lnSpc>
                <a:spcPts val="2418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Low speed</a:t>
            </a:r>
          </a:p>
          <a:p>
            <a:pPr marL="1788132" lvl="2" indent="-487672">
              <a:lnSpc>
                <a:spcPts val="2418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High protocol overhead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Communication cost will dominate; ignore all other cost factors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Global schedule to minimize communication cost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Local schedules according to centralized query optimization</a:t>
            </a:r>
          </a:p>
          <a:p>
            <a:pPr marL="487672" indent="-487672">
              <a:lnSpc>
                <a:spcPts val="3271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>
                <a:solidFill>
                  <a:srgbClr val="0000D4"/>
                </a:solidFill>
              </a:rPr>
              <a:t>Local area networks </a:t>
            </a:r>
            <a:r>
              <a:rPr lang="en-US" dirty="0"/>
              <a:t>(LAN)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Communication cost not that dominant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Total cost function should be considered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Broadcasting can be exploited (joins)</a:t>
            </a:r>
          </a:p>
          <a:p>
            <a:pPr marL="1144676" lvl="1" indent="-494446">
              <a:lnSpc>
                <a:spcPts val="2702"/>
              </a:lnSpc>
              <a:spcAft>
                <a:spcPts val="0"/>
              </a:spcAft>
              <a:tabLst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137902" algn="l"/>
                <a:tab pos="1300460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  <a:tab pos="1625575" algn="l"/>
                <a:tab pos="2600919" algn="l"/>
                <a:tab pos="3901379" algn="l"/>
                <a:tab pos="5201839" algn="l"/>
                <a:tab pos="6502298" algn="l"/>
                <a:tab pos="7802758" algn="l"/>
                <a:tab pos="9103218" algn="l"/>
                <a:tab pos="1300460" algn="l"/>
              </a:tabLst>
            </a:pPr>
            <a:r>
              <a:rPr lang="en-US" dirty="0"/>
              <a:t>Special algorithms exist for star networks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Distributed Query Processing Methodology</a:t>
            </a:r>
          </a:p>
        </p:txBody>
      </p:sp>
      <p:sp>
        <p:nvSpPr>
          <p:cNvPr id="27651" name="Rectangle 3"/>
          <p:cNvSpPr>
            <a:spLocks noChangeArrowheads="1"/>
          </p:cNvSpPr>
          <p:nvPr/>
        </p:nvSpPr>
        <p:spPr bwMode="auto">
          <a:xfrm>
            <a:off x="4054128" y="2356520"/>
            <a:ext cx="5211222" cy="371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128691" tIns="63217" rIns="128691" bIns="63217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2000" dirty="0">
                <a:solidFill>
                  <a:srgbClr val="000000"/>
                </a:solidFill>
                <a:latin typeface="Book Antiqua"/>
              </a:rPr>
              <a:t>Calculus Query on Distributed Relations</a:t>
            </a:r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2318739" y="4608699"/>
            <a:ext cx="1587217" cy="7432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128691" tIns="63217" rIns="128691" bIns="63217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CONTROL</a:t>
            </a:r>
          </a:p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SITE</a:t>
            </a:r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2288393" y="8130832"/>
            <a:ext cx="1146682" cy="7432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28691" tIns="63217" rIns="128691" bIns="63217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LOCAL</a:t>
            </a:r>
          </a:p>
          <a:p>
            <a:r>
              <a:rPr lang="en-US" sz="2000" dirty="0">
                <a:solidFill>
                  <a:srgbClr val="000000"/>
                </a:solidFill>
                <a:latin typeface="Book Antiqua"/>
              </a:rPr>
              <a:t>SITES</a:t>
            </a:r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5172570" y="3129854"/>
            <a:ext cx="2384213" cy="52380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28691" tIns="63217" rIns="128691" bIns="63217" anchor="ctr" anchorCtr="1">
            <a:prstTxWarp prst="textNoShape">
              <a:avLst/>
            </a:prstTxWarp>
          </a:bodyPr>
          <a:lstStyle/>
          <a:p>
            <a:pPr>
              <a:lnSpc>
                <a:spcPct val="75000"/>
              </a:lnSpc>
            </a:pPr>
            <a:r>
              <a:rPr lang="en-US" sz="2000" b="1" dirty="0">
                <a:latin typeface="Book Antiqua"/>
              </a:rPr>
              <a:t>Query</a:t>
            </a:r>
          </a:p>
          <a:p>
            <a:pPr>
              <a:lnSpc>
                <a:spcPct val="75000"/>
              </a:lnSpc>
            </a:pPr>
            <a:r>
              <a:rPr lang="en-US" sz="2000" b="1" dirty="0">
                <a:latin typeface="Book Antiqua"/>
              </a:rPr>
              <a:t>Decomposition</a:t>
            </a:r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5172570" y="4863828"/>
            <a:ext cx="2384213" cy="52380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28691" tIns="63217" rIns="128691" bIns="63217" anchor="ctr" anchorCtr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2000" b="1" dirty="0">
                <a:latin typeface="Book Antiqua"/>
              </a:rPr>
              <a:t>Data</a:t>
            </a:r>
          </a:p>
          <a:p>
            <a:pPr algn="ctr">
              <a:lnSpc>
                <a:spcPct val="80000"/>
              </a:lnSpc>
            </a:pPr>
            <a:r>
              <a:rPr lang="en-US" sz="2000" b="1" dirty="0">
                <a:latin typeface="Book Antiqua"/>
              </a:rPr>
              <a:t>Localization</a:t>
            </a:r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4430847" y="3951686"/>
            <a:ext cx="3865400" cy="6021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28691" tIns="63217" rIns="128691" bIns="63217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2000" dirty="0">
                <a:solidFill>
                  <a:srgbClr val="000000"/>
                </a:solidFill>
                <a:latin typeface="Book Antiqua"/>
              </a:rPr>
              <a:t>Algebraic Query on Distributed</a:t>
            </a:r>
          </a:p>
          <a:p>
            <a:pPr algn="ctr">
              <a:lnSpc>
                <a:spcPct val="75000"/>
              </a:lnSpc>
            </a:pPr>
            <a:r>
              <a:rPr lang="en-US" sz="2000" dirty="0">
                <a:solidFill>
                  <a:srgbClr val="000000"/>
                </a:solidFill>
                <a:latin typeface="Book Antiqua"/>
              </a:rPr>
              <a:t>Relations</a:t>
            </a:r>
          </a:p>
        </p:txBody>
      </p:sp>
      <p:sp>
        <p:nvSpPr>
          <p:cNvPr id="27675" name="Rectangle 27"/>
          <p:cNvSpPr>
            <a:spLocks noChangeArrowheads="1"/>
          </p:cNvSpPr>
          <p:nvPr/>
        </p:nvSpPr>
        <p:spPr bwMode="auto">
          <a:xfrm>
            <a:off x="5172570" y="6344930"/>
            <a:ext cx="2384213" cy="52380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28691" tIns="63217" rIns="128691" bIns="63217" anchor="ctr" anchorCtr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2000" b="1" dirty="0">
                <a:latin typeface="Book Antiqua"/>
              </a:rPr>
              <a:t>Global</a:t>
            </a:r>
          </a:p>
          <a:p>
            <a:pPr algn="ctr">
              <a:lnSpc>
                <a:spcPct val="80000"/>
              </a:lnSpc>
            </a:pPr>
            <a:r>
              <a:rPr lang="en-US" sz="2000" b="1" dirty="0">
                <a:latin typeface="Book Antiqua"/>
              </a:rPr>
              <a:t>Optimization</a:t>
            </a:r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5285751" y="5647278"/>
            <a:ext cx="2157851" cy="4354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28691" tIns="63217" rIns="128691" bIns="63217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Book Antiqua"/>
              </a:rPr>
              <a:t>Fragment Query</a:t>
            </a:r>
          </a:p>
        </p:txBody>
      </p:sp>
      <p:sp>
        <p:nvSpPr>
          <p:cNvPr id="27677" name="Rectangle 29"/>
          <p:cNvSpPr>
            <a:spLocks noChangeArrowheads="1"/>
          </p:cNvSpPr>
          <p:nvPr/>
        </p:nvSpPr>
        <p:spPr bwMode="auto">
          <a:xfrm>
            <a:off x="5172570" y="8151152"/>
            <a:ext cx="2384213" cy="523804"/>
          </a:xfrm>
          <a:prstGeom prst="rect">
            <a:avLst/>
          </a:prstGeom>
          <a:solidFill>
            <a:schemeClr val="accent3">
              <a:lumMod val="5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128691" tIns="63217" rIns="128691" bIns="63217" anchor="ctr" anchorCtr="1">
            <a:prstTxWarp prst="textNoShape">
              <a:avLst/>
            </a:prstTxWarp>
          </a:bodyPr>
          <a:lstStyle/>
          <a:p>
            <a:pPr algn="ctr">
              <a:lnSpc>
                <a:spcPct val="80000"/>
              </a:lnSpc>
            </a:pPr>
            <a:r>
              <a:rPr lang="en-US" sz="2000" b="1" dirty="0">
                <a:latin typeface="Book Antiqua"/>
              </a:rPr>
              <a:t>Local</a:t>
            </a:r>
          </a:p>
          <a:p>
            <a:pPr algn="ctr">
              <a:lnSpc>
                <a:spcPct val="80000"/>
              </a:lnSpc>
            </a:pPr>
            <a:r>
              <a:rPr lang="en-US" sz="2000" b="1" dirty="0">
                <a:latin typeface="Book Antiqua"/>
              </a:rPr>
              <a:t>Optimization</a:t>
            </a:r>
          </a:p>
        </p:txBody>
      </p:sp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4493733" y="7257072"/>
            <a:ext cx="4017334" cy="60215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128691" tIns="63217" rIns="128691" bIns="63217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2000" dirty="0">
                <a:solidFill>
                  <a:srgbClr val="000000"/>
                </a:solidFill>
                <a:latin typeface="Book Antiqua"/>
              </a:rPr>
              <a:t>Optimized Fragment Query</a:t>
            </a:r>
          </a:p>
          <a:p>
            <a:pPr algn="ctr">
              <a:lnSpc>
                <a:spcPct val="75000"/>
              </a:lnSpc>
            </a:pPr>
            <a:r>
              <a:rPr lang="en-US" sz="2000" dirty="0">
                <a:solidFill>
                  <a:srgbClr val="000000"/>
                </a:solidFill>
                <a:latin typeface="Book Antiqua"/>
              </a:rPr>
              <a:t>with Communication Operations</a:t>
            </a:r>
          </a:p>
        </p:txBody>
      </p:sp>
      <p:sp>
        <p:nvSpPr>
          <p:cNvPr id="27679" name="Rectangle 31"/>
          <p:cNvSpPr>
            <a:spLocks noChangeArrowheads="1"/>
          </p:cNvSpPr>
          <p:nvPr/>
        </p:nvSpPr>
        <p:spPr bwMode="auto">
          <a:xfrm>
            <a:off x="4702200" y="9053264"/>
            <a:ext cx="3400485" cy="371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128691" tIns="63217" rIns="128691" bIns="63217">
            <a:prstTxWarp prst="textNoShape">
              <a:avLst/>
            </a:prstTxWarp>
            <a:spAutoFit/>
          </a:bodyPr>
          <a:lstStyle/>
          <a:p>
            <a:pPr algn="ctr">
              <a:lnSpc>
                <a:spcPct val="75000"/>
              </a:lnSpc>
            </a:pPr>
            <a:r>
              <a:rPr lang="en-US" sz="2000" dirty="0">
                <a:solidFill>
                  <a:srgbClr val="000000"/>
                </a:solidFill>
                <a:latin typeface="Book Antiqua"/>
              </a:rPr>
              <a:t>Optimized Local Queries</a:t>
            </a:r>
          </a:p>
        </p:txBody>
      </p:sp>
      <p:sp>
        <p:nvSpPr>
          <p:cNvPr id="27680" name="Line 32"/>
          <p:cNvSpPr>
            <a:spLocks noChangeShapeType="1"/>
          </p:cNvSpPr>
          <p:nvPr/>
        </p:nvSpPr>
        <p:spPr bwMode="auto">
          <a:xfrm flipV="1">
            <a:off x="6364676" y="8711081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1" name="Line 33"/>
          <p:cNvSpPr>
            <a:spLocks noChangeShapeType="1"/>
          </p:cNvSpPr>
          <p:nvPr/>
        </p:nvSpPr>
        <p:spPr bwMode="auto">
          <a:xfrm flipV="1">
            <a:off x="6364676" y="7762814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2" name="Line 34"/>
          <p:cNvSpPr>
            <a:spLocks noChangeShapeType="1"/>
          </p:cNvSpPr>
          <p:nvPr/>
        </p:nvSpPr>
        <p:spPr bwMode="auto">
          <a:xfrm flipV="1">
            <a:off x="6364676" y="6922921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3" name="Line 35"/>
          <p:cNvSpPr>
            <a:spLocks noChangeShapeType="1"/>
          </p:cNvSpPr>
          <p:nvPr/>
        </p:nvSpPr>
        <p:spPr bwMode="auto">
          <a:xfrm flipV="1">
            <a:off x="6364676" y="5983685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4" name="Line 36"/>
          <p:cNvSpPr>
            <a:spLocks noChangeShapeType="1"/>
          </p:cNvSpPr>
          <p:nvPr/>
        </p:nvSpPr>
        <p:spPr bwMode="auto">
          <a:xfrm flipV="1">
            <a:off x="6364676" y="5405694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5" name="Line 37"/>
          <p:cNvSpPr>
            <a:spLocks noChangeShapeType="1"/>
          </p:cNvSpPr>
          <p:nvPr/>
        </p:nvSpPr>
        <p:spPr bwMode="auto">
          <a:xfrm flipV="1">
            <a:off x="6364676" y="4448396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6" name="Line 38"/>
          <p:cNvSpPr>
            <a:spLocks noChangeShapeType="1"/>
          </p:cNvSpPr>
          <p:nvPr/>
        </p:nvSpPr>
        <p:spPr bwMode="auto">
          <a:xfrm flipV="1">
            <a:off x="6364676" y="3671721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7" name="Line 39"/>
          <p:cNvSpPr>
            <a:spLocks noChangeShapeType="1"/>
          </p:cNvSpPr>
          <p:nvPr/>
        </p:nvSpPr>
        <p:spPr bwMode="auto">
          <a:xfrm flipV="1">
            <a:off x="6364676" y="2750547"/>
            <a:ext cx="0" cy="3793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88" name="Oval 40"/>
          <p:cNvSpPr>
            <a:spLocks noChangeArrowheads="1"/>
          </p:cNvSpPr>
          <p:nvPr/>
        </p:nvSpPr>
        <p:spPr bwMode="auto">
          <a:xfrm>
            <a:off x="9293014" y="3030512"/>
            <a:ext cx="2059093" cy="722489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rgbClr val="037C03">
                <a:alpha val="74998"/>
              </a:srgbClr>
            </a:outerShdw>
          </a:effectLst>
        </p:spPr>
        <p:txBody>
          <a:bodyPr wrap="none" lIns="128691" tIns="63217" rIns="128691" bIns="63217" anchor="ctr">
            <a:prstTxWarp prst="textNoShape">
              <a:avLst/>
            </a:prstTxWarp>
          </a:bodyPr>
          <a:lstStyle/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GLOBAL</a:t>
            </a:r>
          </a:p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SCHEMA</a:t>
            </a:r>
          </a:p>
        </p:txBody>
      </p:sp>
      <p:sp>
        <p:nvSpPr>
          <p:cNvPr id="27689" name="Oval 41"/>
          <p:cNvSpPr>
            <a:spLocks noChangeArrowheads="1"/>
          </p:cNvSpPr>
          <p:nvPr/>
        </p:nvSpPr>
        <p:spPr bwMode="auto">
          <a:xfrm>
            <a:off x="9293014" y="4764485"/>
            <a:ext cx="2059093" cy="722489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rgbClr val="037C03">
                <a:alpha val="74998"/>
              </a:srgbClr>
            </a:outerShdw>
          </a:effectLst>
        </p:spPr>
        <p:txBody>
          <a:bodyPr wrap="none" lIns="128691" tIns="63217" rIns="128691" bIns="63217" anchor="ctr">
            <a:prstTxWarp prst="textNoShape">
              <a:avLst/>
            </a:prstTxWarp>
          </a:bodyPr>
          <a:lstStyle/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FRAGMENT</a:t>
            </a:r>
          </a:p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SCHEMA</a:t>
            </a:r>
          </a:p>
        </p:txBody>
      </p:sp>
      <p:sp>
        <p:nvSpPr>
          <p:cNvPr id="27690" name="Oval 42"/>
          <p:cNvSpPr>
            <a:spLocks noChangeArrowheads="1"/>
          </p:cNvSpPr>
          <p:nvPr/>
        </p:nvSpPr>
        <p:spPr bwMode="auto">
          <a:xfrm>
            <a:off x="9293014" y="6245587"/>
            <a:ext cx="2059093" cy="722489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rgbClr val="037C03">
                <a:alpha val="74998"/>
              </a:srgbClr>
            </a:outerShdw>
          </a:effectLst>
        </p:spPr>
        <p:txBody>
          <a:bodyPr wrap="none" lIns="128691" tIns="63217" rIns="128691" bIns="63217" anchor="ctr">
            <a:prstTxWarp prst="textNoShape">
              <a:avLst/>
            </a:prstTxWarp>
          </a:bodyPr>
          <a:lstStyle/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STATS ON</a:t>
            </a:r>
          </a:p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FRAGMENTS</a:t>
            </a:r>
          </a:p>
        </p:txBody>
      </p:sp>
      <p:sp>
        <p:nvSpPr>
          <p:cNvPr id="27691" name="Oval 43"/>
          <p:cNvSpPr>
            <a:spLocks noChangeArrowheads="1"/>
          </p:cNvSpPr>
          <p:nvPr/>
        </p:nvSpPr>
        <p:spPr bwMode="auto">
          <a:xfrm>
            <a:off x="9293014" y="8051810"/>
            <a:ext cx="2059093" cy="722489"/>
          </a:xfrm>
          <a:prstGeom prst="ellipse">
            <a:avLst/>
          </a:prstGeom>
          <a:solidFill>
            <a:srgbClr val="037C03"/>
          </a:solidFill>
          <a:ln w="12700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rgbClr val="037C03">
                <a:alpha val="74998"/>
              </a:srgbClr>
            </a:outerShdw>
          </a:effectLst>
        </p:spPr>
        <p:txBody>
          <a:bodyPr wrap="none" lIns="128691" tIns="63217" rIns="128691" bIns="63217" anchor="ctr">
            <a:prstTxWarp prst="textNoShape">
              <a:avLst/>
            </a:prstTxWarp>
          </a:bodyPr>
          <a:lstStyle/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LOCAL</a:t>
            </a:r>
          </a:p>
          <a:p>
            <a:pPr algn="ctr"/>
            <a:r>
              <a:rPr lang="en-US" sz="1700" b="1" dirty="0">
                <a:solidFill>
                  <a:schemeClr val="bg1"/>
                </a:solidFill>
                <a:latin typeface="Book Antiqua"/>
              </a:rPr>
              <a:t>SCHEMAS</a:t>
            </a:r>
          </a:p>
        </p:txBody>
      </p:sp>
      <p:sp>
        <p:nvSpPr>
          <p:cNvPr id="27692" name="Line 44"/>
          <p:cNvSpPr>
            <a:spLocks noChangeShapeType="1"/>
          </p:cNvSpPr>
          <p:nvPr/>
        </p:nvSpPr>
        <p:spPr bwMode="auto">
          <a:xfrm flipH="1">
            <a:off x="7586133" y="3382725"/>
            <a:ext cx="16978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93" name="Line 45"/>
          <p:cNvSpPr>
            <a:spLocks noChangeShapeType="1"/>
          </p:cNvSpPr>
          <p:nvPr/>
        </p:nvSpPr>
        <p:spPr bwMode="auto">
          <a:xfrm flipH="1">
            <a:off x="7586133" y="5134761"/>
            <a:ext cx="16978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94" name="Line 46"/>
          <p:cNvSpPr>
            <a:spLocks noChangeShapeType="1"/>
          </p:cNvSpPr>
          <p:nvPr/>
        </p:nvSpPr>
        <p:spPr bwMode="auto">
          <a:xfrm flipH="1">
            <a:off x="7586133" y="6597801"/>
            <a:ext cx="16978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95" name="Line 47"/>
          <p:cNvSpPr>
            <a:spLocks noChangeShapeType="1"/>
          </p:cNvSpPr>
          <p:nvPr/>
        </p:nvSpPr>
        <p:spPr bwMode="auto">
          <a:xfrm flipH="1">
            <a:off x="7568071" y="8422085"/>
            <a:ext cx="1697849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96" name="AutoShape 48"/>
          <p:cNvSpPr>
            <a:spLocks/>
          </p:cNvSpPr>
          <p:nvPr/>
        </p:nvSpPr>
        <p:spPr bwMode="auto">
          <a:xfrm>
            <a:off x="4009813" y="2967294"/>
            <a:ext cx="541867" cy="4009813"/>
          </a:xfrm>
          <a:prstGeom prst="leftBrace">
            <a:avLst>
              <a:gd name="adj1" fmla="val 61667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  <p:sp>
        <p:nvSpPr>
          <p:cNvPr id="27697" name="AutoShape 49"/>
          <p:cNvSpPr>
            <a:spLocks/>
          </p:cNvSpPr>
          <p:nvPr/>
        </p:nvSpPr>
        <p:spPr bwMode="auto">
          <a:xfrm>
            <a:off x="4118187" y="7952468"/>
            <a:ext cx="433493" cy="1083733"/>
          </a:xfrm>
          <a:prstGeom prst="leftBrace">
            <a:avLst>
              <a:gd name="adj1" fmla="val 208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30046" tIns="65023" rIns="130046" bIns="65023" anchor="ctr">
            <a:prstTxWarp prst="textNoShape">
              <a:avLst/>
            </a:prstTxWarp>
          </a:bodyPr>
          <a:lstStyle/>
          <a:p>
            <a:endParaRPr lang="en-US" dirty="0">
              <a:latin typeface="Book Antiqua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ook">
  <a:themeElements>
    <a:clrScheme name="">
      <a:dk1>
        <a:srgbClr val="263750"/>
      </a:dk1>
      <a:lt1>
        <a:srgbClr val="D9C8AF"/>
      </a:lt1>
      <a:dk2>
        <a:srgbClr val="000000"/>
      </a:dk2>
      <a:lt2>
        <a:srgbClr val="808080"/>
      </a:lt2>
      <a:accent1>
        <a:srgbClr val="6682AA"/>
      </a:accent1>
      <a:accent2>
        <a:srgbClr val="333399"/>
      </a:accent2>
      <a:accent3>
        <a:srgbClr val="E9E0D4"/>
      </a:accent3>
      <a:accent4>
        <a:srgbClr val="1F2D43"/>
      </a:accent4>
      <a:accent5>
        <a:srgbClr val="B8C1D2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&amp; Bullets">
      <a:majorFont>
        <a:latin typeface="Didot"/>
        <a:ea typeface="ヒラギノ明朝 ProN W3"/>
        <a:cs typeface="ヒラギノ明朝 ProN W3"/>
      </a:majorFont>
      <a:minorFont>
        <a:latin typeface="Palatino"/>
        <a:ea typeface="ヒラギノ明朝 ProN W3"/>
        <a:cs typeface="ヒラギノ明朝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82AA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>
            <a:ln>
              <a:noFill/>
            </a:ln>
            <a:solidFill>
              <a:srgbClr val="263750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682AA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>
            <a:ln>
              <a:noFill/>
            </a:ln>
            <a:solidFill>
              <a:srgbClr val="263750"/>
            </a:solidFill>
            <a:effectLst/>
            <a:latin typeface="Palatino" charset="0"/>
            <a:ea typeface="ヒラギノ明朝 ProN W3" charset="0"/>
            <a:cs typeface="ヒラギノ明朝 ProN W3" charset="0"/>
            <a:sym typeface="Palatino" charset="0"/>
          </a:defRPr>
        </a:defPPr>
      </a:lstStyle>
    </a:lnDef>
  </a:objectDefaults>
  <a:extraClrSchemeLst>
    <a:extraClrScheme>
      <a:clrScheme name="Title &amp; Bullet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Book.potx</Template>
  <TotalTime>312</TotalTime>
  <Pages>0</Pages>
  <Words>757</Words>
  <Characters>0</Characters>
  <Application>Microsoft Office PowerPoint</Application>
  <PresentationFormat>Custom</PresentationFormat>
  <Lines>0</Lines>
  <Paragraphs>167</Paragraphs>
  <Slides>12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6" baseType="lpstr">
      <vt:lpstr>ＭＳ Ｐゴシック</vt:lpstr>
      <vt:lpstr>Arial</vt:lpstr>
      <vt:lpstr>Book Antiqua</vt:lpstr>
      <vt:lpstr>Calibri</vt:lpstr>
      <vt:lpstr>Century Schoolbook</vt:lpstr>
      <vt:lpstr>Courier New</vt:lpstr>
      <vt:lpstr>Didot</vt:lpstr>
      <vt:lpstr>Lucida Grande</vt:lpstr>
      <vt:lpstr>Palatino</vt:lpstr>
      <vt:lpstr>Symbol</vt:lpstr>
      <vt:lpstr>Wingdings</vt:lpstr>
      <vt:lpstr>Zapf Dingbats</vt:lpstr>
      <vt:lpstr>Book</vt:lpstr>
      <vt:lpstr>Equation</vt:lpstr>
      <vt:lpstr>Query Processing in a DDBMS</vt:lpstr>
      <vt:lpstr>Query Processing Components</vt:lpstr>
      <vt:lpstr>Selecting Alternatives</vt:lpstr>
      <vt:lpstr>What is the Problem?</vt:lpstr>
      <vt:lpstr>Cost of Alternatives</vt:lpstr>
      <vt:lpstr>Query Optimization Objectives</vt:lpstr>
      <vt:lpstr>Query Optimization Issues – Optimization Granularity</vt:lpstr>
      <vt:lpstr>Query Optimization Issues – Optimization Timing</vt:lpstr>
      <vt:lpstr>Query Optimization Issues – Statistics</vt:lpstr>
      <vt:lpstr>Query Optimization Issues – Decision Sites</vt:lpstr>
      <vt:lpstr>Query Optimization Issues – Network Topology</vt:lpstr>
      <vt:lpstr>Distributed Query Processing Methodology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subject/>
  <dc:creator/>
  <cp:keywords/>
  <dc:description/>
  <cp:lastModifiedBy>Bilal Shatila</cp:lastModifiedBy>
  <cp:revision>44</cp:revision>
  <dcterms:modified xsi:type="dcterms:W3CDTF">2025-12-02T12:10:51Z</dcterms:modified>
</cp:coreProperties>
</file>